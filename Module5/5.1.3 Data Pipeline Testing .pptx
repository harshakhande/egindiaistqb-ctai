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7" r:id="rId2"/>
    <p:sldId id="275" r:id="rId3"/>
    <p:sldId id="274" r:id="rId4"/>
    <p:sldId id="273" r:id="rId5"/>
    <p:sldId id="272" r:id="rId6"/>
    <p:sldId id="271" r:id="rId7"/>
    <p:sldId id="270" r:id="rId8"/>
    <p:sldId id="269" r:id="rId9"/>
    <p:sldId id="268" r:id="rId10"/>
    <p:sldId id="266" r:id="rId11"/>
    <p:sldId id="265"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5005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CAAEFD-765E-87D0-7112-E167FE661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C18A72-4328-C92A-9F2F-60F0FFA0B1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F77D22-F290-F285-74B6-5EB399B67E2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26232B-D53B-1120-C6ED-D5530F4ACAAC}"/>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21442164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44496-AD78-6740-287A-1DFAD85941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DA5277-05A8-D05F-769B-165F834583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8B5722-69EA-6D4E-BD59-FF77256BD8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CB0EC3-B58D-9B5B-909C-DA4AD87E88CA}"/>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38872367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3228DD-2864-011E-A7BA-5C22E08CC2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3D1995-C89B-987A-901D-DD034A5646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E4F8E3-5361-996F-A993-6829A669C7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0E20480-2075-8C70-C8C3-C40B1BEE4D6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92964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FD87D5-FACE-B40B-B477-9AAC214A1F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C64BC0-3205-107E-4994-9E23787C0E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1236AE-D14D-C8F1-4538-7B9AF24C71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E39FCF-6D1A-114C-3330-78163A6E568B}"/>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6947896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51CAD-A7BF-2503-7278-1B6F576AE2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B642F9-28D7-CEA7-891D-634B17EA3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DEB3F3-ACD4-89D7-B93E-706BBDBD123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E6AF22-0186-C490-2D2E-BFDF6A71F6F3}"/>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89332252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E2B672-F991-CEF4-B0D6-AD6A49FA1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76E917-8D71-EEB5-84A7-C10F6A767A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3A112E-4BA4-0D3A-BB40-2E4F1265A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032DBC8-02F2-3D4A-EED0-E0C7D481A074}"/>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4022494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CB1E6-50B2-3AED-23A1-70D50965C4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E43A3E-95CB-C1F2-4D86-E1CAF8328B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AD1285-FC14-2455-D1F9-EFA11179045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DAA7FAA-14C7-0F11-5887-DAAA971F26CD}"/>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38191999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7714C-56B0-BF61-E3F4-5B948BFD50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6E5055-B290-3B47-787D-04DCE9D886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AB7419-E924-8361-5383-A86D9E87A2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C52306-AB54-2B3D-931A-44044FC8C552}"/>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61173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44757-0B5E-2380-0725-665C81939E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715AC2-1A4F-B4D0-1965-7EDFF9B1F8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2C43CC-F3F2-8C38-EA7A-160116083DA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D3F172-80F7-CEFF-BFF3-C8EB3AE1343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1020623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DFFDED"/>
        </a:solidFill>
        <a:effectLst/>
      </p:bgPr>
    </p:bg>
    <p:spTree>
      <p:nvGrpSpPr>
        <p:cNvPr id="1" name=""/>
        <p:cNvGrpSpPr/>
        <p:nvPr/>
      </p:nvGrpSpPr>
      <p:grpSpPr>
        <a:xfrm>
          <a:off x="0" y="0"/>
          <a:ext cx="0" cy="0"/>
          <a:chOff x="0" y="0"/>
          <a:chExt cx="0" cy="0"/>
        </a:xfrm>
      </p:grpSpPr>
      <p:sp>
        <p:nvSpPr>
          <p:cNvPr id="2" name="Text 0"/>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p:cNvSpPr/>
          <p:nvPr/>
        </p:nvSpPr>
        <p:spPr>
          <a:xfrm>
            <a:off x="530352" y="630241"/>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C80ED7A5-DDEB-D87B-93AE-EC54E23A6944}"/>
              </a:ext>
            </a:extLst>
          </p:cNvPr>
          <p:cNvSpPr txBox="1"/>
          <p:nvPr/>
        </p:nvSpPr>
        <p:spPr>
          <a:xfrm>
            <a:off x="530352" y="167023"/>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DB09B425-91A8-78D2-CC73-DF6E79C304EF}"/>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pic>
        <p:nvPicPr>
          <p:cNvPr id="5" name="Picture 4">
            <a:extLst>
              <a:ext uri="{FF2B5EF4-FFF2-40B4-BE49-F238E27FC236}">
                <a16:creationId xmlns:a16="http://schemas.microsoft.com/office/drawing/2014/main" id="{C2D07566-B549-2C92-4811-34A87E012BAF}"/>
              </a:ext>
            </a:extLst>
          </p:cNvPr>
          <p:cNvPicPr>
            <a:picLocks noChangeAspect="1"/>
          </p:cNvPicPr>
          <p:nvPr/>
        </p:nvPicPr>
        <p:blipFill>
          <a:blip r:embed="rId3"/>
          <a:stretch>
            <a:fillRect/>
          </a:stretch>
        </p:blipFill>
        <p:spPr>
          <a:xfrm>
            <a:off x="1069675" y="698740"/>
            <a:ext cx="9868619" cy="61592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657A5E60-7275-B82A-F504-B301FD9C22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C30D56E-1C4C-E563-ED15-3C4CBA155959}"/>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1316E6D8-D277-0F17-8616-A111257BDC04}"/>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A97BEEA8-A57A-7BB1-7DA1-0920716F8F95}"/>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73A0B776-E066-265C-9C2F-2ED392F7D7EB}"/>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DBC807CC-7DC3-73B8-4239-C0F34E25A8AE}"/>
              </a:ext>
            </a:extLst>
          </p:cNvPr>
          <p:cNvSpPr txBox="1"/>
          <p:nvPr/>
        </p:nvSpPr>
        <p:spPr>
          <a:xfrm>
            <a:off x="530351" y="1296239"/>
            <a:ext cx="9838599" cy="3693319"/>
          </a:xfrm>
          <a:prstGeom prst="rect">
            <a:avLst/>
          </a:prstGeom>
          <a:noFill/>
        </p:spPr>
        <p:txBody>
          <a:bodyPr wrap="square">
            <a:spAutoFit/>
          </a:bodyPr>
          <a:lstStyle/>
          <a:p>
            <a:pPr marL="285750" indent="-285750">
              <a:buFont typeface="Arial" panose="020B0604020202020204" pitchFamily="34" charset="0"/>
              <a:buChar char="•"/>
            </a:pPr>
            <a:r>
              <a:rPr lang="en-IN" dirty="0"/>
              <a:t>Data pipeline testing is essential for ensuring the reliability, performance, and quality of data-driven systems. </a:t>
            </a:r>
          </a:p>
          <a:p>
            <a:pPr marL="285750" indent="-285750">
              <a:buFont typeface="Arial" panose="020B0604020202020204" pitchFamily="34" charset="0"/>
              <a:buChar char="•"/>
            </a:pPr>
            <a:r>
              <a:rPr lang="en-IN" dirty="0"/>
              <a:t>It helps maintain high data quality throughout the entire Machine Learning (ML) workflow (</a:t>
            </a:r>
          </a:p>
          <a:p>
            <a:pPr marL="285750" indent="-285750">
              <a:buFont typeface="Arial" panose="020B0604020202020204" pitchFamily="34" charset="0"/>
              <a:buChar char="•"/>
            </a:pPr>
            <a:r>
              <a:rPr lang="en-IN" dirty="0"/>
              <a:t>A layered testing approach is used to verify the functionality, integration, performance, and security of the data pipeline at different testing levels.</a:t>
            </a:r>
          </a:p>
          <a:p>
            <a:pPr marL="285750" indent="-285750">
              <a:buFont typeface="Arial" panose="020B0604020202020204" pitchFamily="34" charset="0"/>
              <a:buChar char="•"/>
            </a:pPr>
            <a:endParaRPr lang="en-IN" dirty="0"/>
          </a:p>
          <a:p>
            <a:pPr marL="342900" indent="-342900">
              <a:buAutoNum type="arabicPeriod"/>
            </a:pPr>
            <a:r>
              <a:rPr lang="en-IN" b="1" dirty="0"/>
              <a:t>Data Pipeline Design Reviews</a:t>
            </a:r>
          </a:p>
          <a:p>
            <a:pPr marL="342900" indent="-342900">
              <a:buAutoNum type="arabicPeriod"/>
            </a:pPr>
            <a:endParaRPr lang="en-IN" b="1" dirty="0"/>
          </a:p>
          <a:p>
            <a:pPr>
              <a:buNone/>
            </a:pPr>
            <a:r>
              <a:rPr lang="en-IN" dirty="0"/>
              <a:t>Data pipeline design reviews are performed during the design phase to identify potential defects before implementation begins.</a:t>
            </a:r>
          </a:p>
          <a:p>
            <a:pPr>
              <a:buNone/>
            </a:pPr>
            <a:endParaRPr lang="en-IN" dirty="0"/>
          </a:p>
          <a:p>
            <a:pPr>
              <a:buNone/>
            </a:pPr>
            <a:r>
              <a:rPr lang="en-IN" dirty="0"/>
              <a:t>These reviews evaluate the pipeline architecture, data flow, interfaces, and data processing requirements to ensure that the pipeline is designed to handle data correctly and efficiently.</a:t>
            </a:r>
          </a:p>
        </p:txBody>
      </p:sp>
    </p:spTree>
    <p:extLst>
      <p:ext uri="{BB962C8B-B14F-4D97-AF65-F5344CB8AC3E}">
        <p14:creationId xmlns:p14="http://schemas.microsoft.com/office/powerpoint/2010/main" val="35310220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02C9157B-3FBA-7AD2-1ED3-1A4D981E1A7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CC9E542-2119-DA50-6F79-1A8DFEA237D7}"/>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4B1E5FAC-2FC4-74B2-D1A5-10B923448ABF}"/>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B3D0F894-7939-AE4A-8671-3E11CECB861B}"/>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C7ABC256-FA97-A371-C785-0D953F8506E1}"/>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CA915FE6-717B-6F89-7258-F7FC3D6A74F5}"/>
              </a:ext>
            </a:extLst>
          </p:cNvPr>
          <p:cNvSpPr txBox="1"/>
          <p:nvPr/>
        </p:nvSpPr>
        <p:spPr>
          <a:xfrm>
            <a:off x="838919" y="1194153"/>
            <a:ext cx="9814704" cy="3693319"/>
          </a:xfrm>
          <a:prstGeom prst="rect">
            <a:avLst/>
          </a:prstGeom>
          <a:noFill/>
        </p:spPr>
        <p:txBody>
          <a:bodyPr wrap="square">
            <a:spAutoFit/>
          </a:bodyPr>
          <a:lstStyle/>
          <a:p>
            <a:pPr>
              <a:buNone/>
            </a:pPr>
            <a:r>
              <a:rPr lang="en-IN" sz="1800" b="1" dirty="0"/>
              <a:t>2. Component Testing</a:t>
            </a:r>
          </a:p>
          <a:p>
            <a:pPr>
              <a:buNone/>
            </a:pPr>
            <a:endParaRPr lang="en-IN" sz="1800" b="1" dirty="0"/>
          </a:p>
          <a:p>
            <a:pPr>
              <a:buNone/>
            </a:pPr>
            <a:r>
              <a:rPr lang="en-IN" sz="1800" dirty="0"/>
              <a:t>Component testing focuses on testing individual components of the data pipeline, such as data ingestion components, transformation scripts, and sensor interfaces.</a:t>
            </a:r>
          </a:p>
          <a:p>
            <a:pPr>
              <a:buNone/>
            </a:pPr>
            <a:endParaRPr lang="en-IN" sz="1800" dirty="0"/>
          </a:p>
          <a:p>
            <a:pPr>
              <a:buNone/>
            </a:pPr>
            <a:r>
              <a:rPr lang="en-IN" sz="1800" dirty="0"/>
              <a:t>Testing techniques such as code reviews, static analysis, and hardware-specific testing are used to verify reliable data capture and processing.</a:t>
            </a:r>
          </a:p>
          <a:p>
            <a:pPr>
              <a:buNone/>
            </a:pPr>
            <a:endParaRPr lang="en-IN" sz="1800" dirty="0"/>
          </a:p>
          <a:p>
            <a:pPr>
              <a:buNone/>
            </a:pPr>
            <a:r>
              <a:rPr lang="en-IN" sz="1800" dirty="0"/>
              <a:t>Component testing includes the following activities:</a:t>
            </a:r>
          </a:p>
          <a:p>
            <a:pPr>
              <a:buNone/>
            </a:pPr>
            <a:endParaRPr lang="en-IN" sz="1800" dirty="0"/>
          </a:p>
          <a:p>
            <a:pPr marL="342900" lvl="0" indent="-342900">
              <a:buFont typeface="Arial" panose="020B0604020202020204" pitchFamily="34" charset="0"/>
              <a:buChar char="•"/>
            </a:pPr>
            <a:r>
              <a:rPr lang="en-IN" sz="1800" dirty="0"/>
              <a:t>Validating data transformation logic to ensure that data is processed correctly.</a:t>
            </a:r>
          </a:p>
          <a:p>
            <a:pPr marL="342900" lvl="0" indent="-342900">
              <a:buFont typeface="Arial" panose="020B0604020202020204" pitchFamily="34" charset="0"/>
              <a:buChar char="•"/>
            </a:pPr>
            <a:r>
              <a:rPr lang="en-IN" sz="1800" dirty="0"/>
              <a:t>Verifying the implementation of data validation rules.</a:t>
            </a:r>
          </a:p>
          <a:p>
            <a:pPr marL="342900" lvl="0" indent="-342900">
              <a:buFont typeface="Arial" panose="020B0604020202020204" pitchFamily="34" charset="0"/>
              <a:buChar char="•"/>
            </a:pPr>
            <a:r>
              <a:rPr lang="en-IN" sz="1800" dirty="0"/>
              <a:t>Checking error handling mechanisms to ensure the system can handle invalid or unexpected data.</a:t>
            </a:r>
          </a:p>
        </p:txBody>
      </p:sp>
    </p:spTree>
    <p:extLst>
      <p:ext uri="{BB962C8B-B14F-4D97-AF65-F5344CB8AC3E}">
        <p14:creationId xmlns:p14="http://schemas.microsoft.com/office/powerpoint/2010/main" val="31365422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C5593171-BBA9-CDD2-7F90-6534EE3A59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EBC612F-CB9D-3D53-D366-0DCE0C459CC6}"/>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44868293-2B53-0986-1D4E-048A08E4B236}"/>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CD4F4B9D-9504-E8E6-9C44-BD7C9A34098C}"/>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D7FAA923-EAEB-2A09-B522-FEDA5F5DCC6E}"/>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7618ED71-D6F8-D66F-BA2A-05E46C479FAF}"/>
              </a:ext>
            </a:extLst>
          </p:cNvPr>
          <p:cNvSpPr txBox="1"/>
          <p:nvPr/>
        </p:nvSpPr>
        <p:spPr>
          <a:xfrm>
            <a:off x="959688" y="1302330"/>
            <a:ext cx="7683979" cy="2862322"/>
          </a:xfrm>
          <a:prstGeom prst="rect">
            <a:avLst/>
          </a:prstGeom>
          <a:noFill/>
        </p:spPr>
        <p:txBody>
          <a:bodyPr wrap="square">
            <a:spAutoFit/>
          </a:bodyPr>
          <a:lstStyle/>
          <a:p>
            <a:pPr>
              <a:buNone/>
            </a:pPr>
            <a:r>
              <a:rPr lang="en-IN" b="1" dirty="0"/>
              <a:t>3. Component Integration Testing</a:t>
            </a:r>
          </a:p>
          <a:p>
            <a:pPr>
              <a:buNone/>
            </a:pPr>
            <a:endParaRPr lang="en-IN" b="1" dirty="0"/>
          </a:p>
          <a:p>
            <a:pPr>
              <a:buNone/>
            </a:pPr>
            <a:r>
              <a:rPr lang="en-IN" dirty="0"/>
              <a:t>Component integration testing verifies that data flows correctly between the internal components of the pipeline.</a:t>
            </a:r>
          </a:p>
          <a:p>
            <a:pPr>
              <a:buNone/>
            </a:pPr>
            <a:endParaRPr lang="en-IN" dirty="0"/>
          </a:p>
          <a:p>
            <a:pPr>
              <a:buNone/>
            </a:pPr>
            <a:r>
              <a:rPr lang="en-IN" dirty="0"/>
              <a:t>It ensures that data is transferred, interpreted, and processed consistently across different interfaces.</a:t>
            </a:r>
          </a:p>
          <a:p>
            <a:pPr>
              <a:buNone/>
            </a:pPr>
            <a:endParaRPr lang="en-IN" dirty="0"/>
          </a:p>
          <a:p>
            <a:pPr>
              <a:buNone/>
            </a:pPr>
            <a:r>
              <a:rPr lang="en-IN" dirty="0"/>
              <a:t>This testing helps identify defects caused by mismatched interfaces, incompatible data formats, or incorrect assumptions between components.</a:t>
            </a:r>
          </a:p>
        </p:txBody>
      </p:sp>
    </p:spTree>
    <p:extLst>
      <p:ext uri="{BB962C8B-B14F-4D97-AF65-F5344CB8AC3E}">
        <p14:creationId xmlns:p14="http://schemas.microsoft.com/office/powerpoint/2010/main" val="41398612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D2A4323B-8927-3707-3E1B-77C34FFE6AA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1341BF-3F56-2C07-915B-17C1695E9F59}"/>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BEF29BB9-07E6-0EEC-E77F-2CF3C2C8C3EB}"/>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07FF3384-14A0-3199-D002-ACD7A5B4E98E}"/>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A7CDB582-F696-E8B2-5BCB-5046155D7B0B}"/>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3E6162CC-5368-E7FD-8275-6F4717889D7C}"/>
              </a:ext>
            </a:extLst>
          </p:cNvPr>
          <p:cNvSpPr txBox="1"/>
          <p:nvPr/>
        </p:nvSpPr>
        <p:spPr>
          <a:xfrm>
            <a:off x="795786" y="1142914"/>
            <a:ext cx="9918222" cy="5509200"/>
          </a:xfrm>
          <a:prstGeom prst="rect">
            <a:avLst/>
          </a:prstGeom>
          <a:noFill/>
        </p:spPr>
        <p:txBody>
          <a:bodyPr wrap="square">
            <a:spAutoFit/>
          </a:bodyPr>
          <a:lstStyle/>
          <a:p>
            <a:pPr>
              <a:buNone/>
            </a:pPr>
            <a:r>
              <a:rPr lang="en-IN" sz="1600" b="1" dirty="0"/>
              <a:t>4. System Testing</a:t>
            </a:r>
          </a:p>
          <a:p>
            <a:pPr>
              <a:buNone/>
            </a:pPr>
            <a:endParaRPr lang="en-IN" sz="1600" b="1" dirty="0"/>
          </a:p>
          <a:p>
            <a:pPr>
              <a:buNone/>
            </a:pPr>
            <a:r>
              <a:rPr lang="en-IN" sz="1600" dirty="0"/>
              <a:t>System testing evaluates the complete data pipeline after all components have been integrated.</a:t>
            </a:r>
          </a:p>
          <a:p>
            <a:pPr>
              <a:buNone/>
            </a:pPr>
            <a:r>
              <a:rPr lang="en-IN" sz="1600" dirty="0"/>
              <a:t>It includes several testing approaches to verify the pipeline's functionality, performance, security, and reliability.</a:t>
            </a:r>
          </a:p>
          <a:p>
            <a:pPr>
              <a:buNone/>
            </a:pPr>
            <a:r>
              <a:rPr lang="en-IN" sz="1600" dirty="0"/>
              <a:t>a. Smoke Testing</a:t>
            </a:r>
          </a:p>
          <a:p>
            <a:pPr>
              <a:buNone/>
            </a:pPr>
            <a:r>
              <a:rPr lang="en-IN" sz="1600" dirty="0"/>
              <a:t>Smoke testing confirms that the basic functionality of the data pipeline is working correctly before detailed testing begins.</a:t>
            </a:r>
          </a:p>
          <a:p>
            <a:pPr>
              <a:buNone/>
            </a:pPr>
            <a:r>
              <a:rPr lang="en-IN" sz="1600" dirty="0"/>
              <a:t>b. Functional Testing</a:t>
            </a:r>
          </a:p>
          <a:p>
            <a:pPr>
              <a:buNone/>
            </a:pPr>
            <a:r>
              <a:rPr lang="en-IN" sz="1600" dirty="0"/>
              <a:t>Functional testing verifies that the data pipeline meets specified requirements, including correct data transformations, processing, and routing.</a:t>
            </a:r>
          </a:p>
          <a:p>
            <a:pPr>
              <a:buNone/>
            </a:pPr>
            <a:r>
              <a:rPr lang="en-IN" sz="1600" dirty="0"/>
              <a:t>c. Non-Functional Testing</a:t>
            </a:r>
          </a:p>
          <a:p>
            <a:pPr>
              <a:buNone/>
            </a:pPr>
            <a:r>
              <a:rPr lang="en-IN" sz="1600" dirty="0"/>
              <a:t>Non-functional testing evaluates the performance, scalability, and security of the data pipeline.</a:t>
            </a:r>
          </a:p>
          <a:p>
            <a:pPr>
              <a:buNone/>
            </a:pPr>
            <a:r>
              <a:rPr lang="en-IN" sz="1600" dirty="0"/>
              <a:t>It verifies that the pipeline can handle increasing data volumes, operate efficiently under heavy loads, and protect data integrity.</a:t>
            </a:r>
          </a:p>
          <a:p>
            <a:pPr>
              <a:buNone/>
            </a:pPr>
            <a:r>
              <a:rPr lang="en-IN" sz="1600" dirty="0"/>
              <a:t>d. Fault Injection Testing</a:t>
            </a:r>
          </a:p>
          <a:p>
            <a:pPr>
              <a:buNone/>
            </a:pPr>
            <a:r>
              <a:rPr lang="en-IN" sz="1600" dirty="0"/>
              <a:t>Fault injection testing evaluates the robustness of the data pipeline by deliberately introducing defective, unexpected, or corrupted data.</a:t>
            </a:r>
          </a:p>
          <a:p>
            <a:pPr>
              <a:buNone/>
            </a:pPr>
            <a:r>
              <a:rPr lang="en-IN" sz="1600" dirty="0"/>
              <a:t>It verifies whether the pipeline can detect errors, handle failures, and maintain data integrity under abnormal conditions.</a:t>
            </a:r>
          </a:p>
          <a:p>
            <a:pPr>
              <a:buNone/>
            </a:pPr>
            <a:r>
              <a:rPr lang="en-IN" sz="1600" dirty="0"/>
              <a:t>e. Back-to-Back Testing</a:t>
            </a:r>
          </a:p>
          <a:p>
            <a:pPr>
              <a:buNone/>
            </a:pPr>
            <a:r>
              <a:rPr lang="en-IN" sz="1600" dirty="0"/>
              <a:t>Back-to-back testing (see Section 6.1.10) compares the operational pipeline with the training pipeline to verify that both produce consistent results and perform the required data processing correctly.</a:t>
            </a:r>
          </a:p>
        </p:txBody>
      </p:sp>
    </p:spTree>
    <p:extLst>
      <p:ext uri="{BB962C8B-B14F-4D97-AF65-F5344CB8AC3E}">
        <p14:creationId xmlns:p14="http://schemas.microsoft.com/office/powerpoint/2010/main" val="32211441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AC20F0C1-8F2D-C8A0-7F0F-2813C230F8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8F71230-8312-AF43-1672-2EAE660929D8}"/>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A33EB7DE-489A-DF2B-1801-E800EF15CB5E}"/>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58947DC4-CED3-51C7-8A9B-675659A7D528}"/>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32B7CAA3-67CF-C2CA-6AA2-68BAD30549B3}"/>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CF4077B3-9EE9-E62B-41BF-3C7C62F7F1AB}"/>
              </a:ext>
            </a:extLst>
          </p:cNvPr>
          <p:cNvSpPr txBox="1"/>
          <p:nvPr/>
        </p:nvSpPr>
        <p:spPr>
          <a:xfrm>
            <a:off x="761280" y="1360611"/>
            <a:ext cx="10515599" cy="2585323"/>
          </a:xfrm>
          <a:prstGeom prst="rect">
            <a:avLst/>
          </a:prstGeom>
          <a:noFill/>
        </p:spPr>
        <p:txBody>
          <a:bodyPr wrap="square">
            <a:spAutoFit/>
          </a:bodyPr>
          <a:lstStyle/>
          <a:p>
            <a:pPr>
              <a:buNone/>
            </a:pPr>
            <a:r>
              <a:rPr lang="en-IN" b="1" dirty="0"/>
              <a:t>5. System Integration Testing</a:t>
            </a:r>
          </a:p>
          <a:p>
            <a:pPr>
              <a:buNone/>
            </a:pPr>
            <a:endParaRPr lang="en-IN" b="1" dirty="0"/>
          </a:p>
          <a:p>
            <a:pPr>
              <a:buNone/>
            </a:pPr>
            <a:r>
              <a:rPr lang="en-IN" dirty="0"/>
              <a:t>System integration testing verifies the interaction between the data pipeline and external systems or services.</a:t>
            </a:r>
          </a:p>
          <a:p>
            <a:pPr>
              <a:buNone/>
            </a:pPr>
            <a:r>
              <a:rPr lang="en-IN" dirty="0"/>
              <a:t>These external systems may include data sources, storage platforms, monitoring tools, and downstream consumers such as Machine Learning models.</a:t>
            </a:r>
          </a:p>
          <a:p>
            <a:pPr>
              <a:buNone/>
            </a:pPr>
            <a:endParaRPr lang="en-IN" dirty="0"/>
          </a:p>
          <a:p>
            <a:pPr>
              <a:buNone/>
            </a:pPr>
            <a:r>
              <a:rPr lang="en-IN" dirty="0"/>
              <a:t>The objective is to ensure that data is exchanged correctly and that the pipeline operates properly within the overall system environment.</a:t>
            </a:r>
          </a:p>
          <a:p>
            <a:pPr>
              <a:buNone/>
            </a:pPr>
            <a:endParaRPr lang="en-IN" dirty="0"/>
          </a:p>
        </p:txBody>
      </p:sp>
    </p:spTree>
    <p:extLst>
      <p:ext uri="{BB962C8B-B14F-4D97-AF65-F5344CB8AC3E}">
        <p14:creationId xmlns:p14="http://schemas.microsoft.com/office/powerpoint/2010/main" val="34630240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E2CCD77F-7A85-6469-66BF-2FDB412154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1F5FBA6-6BD5-8582-B8B9-66771B5D37B8}"/>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49B25F8E-A354-3A27-9594-A1B1E85998CE}"/>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C27C06D0-B7F2-24FB-6427-19209371474E}"/>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D6B66C66-D5F1-83D1-3C9C-5E87BE217DBA}"/>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C081016A-966E-4806-2F60-DA6343091FCE}"/>
              </a:ext>
            </a:extLst>
          </p:cNvPr>
          <p:cNvSpPr txBox="1"/>
          <p:nvPr/>
        </p:nvSpPr>
        <p:spPr>
          <a:xfrm>
            <a:off x="673766" y="1014985"/>
            <a:ext cx="10228772" cy="5016758"/>
          </a:xfrm>
          <a:prstGeom prst="rect">
            <a:avLst/>
          </a:prstGeom>
          <a:noFill/>
        </p:spPr>
        <p:txBody>
          <a:bodyPr wrap="square">
            <a:spAutoFit/>
          </a:bodyPr>
          <a:lstStyle/>
          <a:p>
            <a:pPr>
              <a:buNone/>
            </a:pPr>
            <a:r>
              <a:rPr lang="en-IN" sz="1600" b="1" dirty="0"/>
              <a:t>6. Testing in Production</a:t>
            </a:r>
          </a:p>
          <a:p>
            <a:pPr>
              <a:buNone/>
            </a:pPr>
            <a:endParaRPr lang="en-IN" sz="1600" b="1" dirty="0"/>
          </a:p>
          <a:p>
            <a:pPr>
              <a:buNone/>
            </a:pPr>
            <a:r>
              <a:rPr lang="en-IN" sz="1600" dirty="0"/>
              <a:t>Testing in production is performed on the operational data pipeline to ensure that it continues to function correctly in a live environment.</a:t>
            </a:r>
          </a:p>
          <a:p>
            <a:pPr>
              <a:buNone/>
            </a:pPr>
            <a:r>
              <a:rPr lang="en-IN" sz="1600" dirty="0"/>
              <a:t>The following testing approaches are commonly used:</a:t>
            </a:r>
          </a:p>
          <a:p>
            <a:pPr>
              <a:buNone/>
            </a:pPr>
            <a:endParaRPr lang="en-IN" sz="1600" dirty="0"/>
          </a:p>
          <a:p>
            <a:pPr marL="285750" indent="-285750">
              <a:buFont typeface="Arial" panose="020B0604020202020204" pitchFamily="34" charset="0"/>
              <a:buChar char="•"/>
            </a:pPr>
            <a:r>
              <a:rPr lang="en-IN" sz="1600" dirty="0"/>
              <a:t>a. Back-to-Back Testing</a:t>
            </a:r>
          </a:p>
          <a:p>
            <a:pPr marL="285750" indent="-285750">
              <a:buFont typeface="Arial" panose="020B0604020202020204" pitchFamily="34" charset="0"/>
              <a:buChar char="•"/>
            </a:pPr>
            <a:r>
              <a:rPr lang="en-IN" sz="1600" dirty="0"/>
              <a:t>Back-to-back testing compares the current operational pipeline with previous versions to verify that performance and functionality remain consistent or have improved.</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b. A/B Testing</a:t>
            </a:r>
          </a:p>
          <a:p>
            <a:pPr marL="285750" indent="-285750">
              <a:buFont typeface="Arial" panose="020B0604020202020204" pitchFamily="34" charset="0"/>
              <a:buChar char="•"/>
            </a:pPr>
            <a:r>
              <a:rPr lang="en-IN" sz="1600" dirty="0"/>
              <a:t>A/B testing (see Section 6.1.9) compares a new version of the data pipeline with an existing baseline version.</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This helps determine whether the new version provides improvements without negatively affecting the live data stream.</a:t>
            </a:r>
          </a:p>
          <a:p>
            <a:pPr marL="285750" indent="-285750">
              <a:buFont typeface="Arial" panose="020B0604020202020204" pitchFamily="34" charset="0"/>
              <a:buChar char="•"/>
            </a:pPr>
            <a:endParaRPr lang="en-IN" sz="1600" dirty="0"/>
          </a:p>
          <a:p>
            <a:pPr marL="285750" indent="-285750">
              <a:buFont typeface="Arial" panose="020B0604020202020204" pitchFamily="34" charset="0"/>
              <a:buChar char="•"/>
            </a:pPr>
            <a:r>
              <a:rPr lang="en-IN" sz="1600" dirty="0"/>
              <a:t>c. Continuous Monitoring</a:t>
            </a:r>
          </a:p>
          <a:p>
            <a:pPr marL="285750" indent="-285750">
              <a:buFont typeface="Arial" panose="020B0604020202020204" pitchFamily="34" charset="0"/>
              <a:buChar char="•"/>
            </a:pPr>
            <a:r>
              <a:rPr lang="en-IN" sz="1600" dirty="0"/>
              <a:t>Monitoring tools are integrated into the operational pipeline to continuously observe data processing, model </a:t>
            </a:r>
            <a:r>
              <a:rPr lang="en-IN" sz="1600" dirty="0" err="1"/>
              <a:t>behavior</a:t>
            </a:r>
            <a:r>
              <a:rPr lang="en-IN" sz="1600" dirty="0"/>
              <a:t>, performance, and potential defects in real time.</a:t>
            </a:r>
          </a:p>
          <a:p>
            <a:pPr marL="285750" indent="-285750">
              <a:buFont typeface="Arial" panose="020B0604020202020204" pitchFamily="34" charset="0"/>
              <a:buChar char="•"/>
            </a:pPr>
            <a:r>
              <a:rPr lang="en-IN" sz="1600" dirty="0"/>
              <a:t>Continuous monitoring helps identify problems early and maintain the reliability of the operational system.</a:t>
            </a:r>
          </a:p>
        </p:txBody>
      </p:sp>
    </p:spTree>
    <p:extLst>
      <p:ext uri="{BB962C8B-B14F-4D97-AF65-F5344CB8AC3E}">
        <p14:creationId xmlns:p14="http://schemas.microsoft.com/office/powerpoint/2010/main" val="421042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6A8F3CB6-D34D-8F17-E2FD-F984D8EA07E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65A9DD-8B73-8972-BF3D-D7C0F9F492CD}"/>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B1EC7BE2-2F43-97D5-C0AE-D015196640CC}"/>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4309392C-88CB-65F3-146D-066587756B93}"/>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A1685D21-4FCC-03A6-1967-F524D32DA0FE}"/>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E658D807-45E8-47EE-D570-6C02D8064416}"/>
              </a:ext>
            </a:extLst>
          </p:cNvPr>
          <p:cNvSpPr txBox="1"/>
          <p:nvPr/>
        </p:nvSpPr>
        <p:spPr>
          <a:xfrm>
            <a:off x="744027" y="1188863"/>
            <a:ext cx="8529368" cy="2031325"/>
          </a:xfrm>
          <a:prstGeom prst="rect">
            <a:avLst/>
          </a:prstGeom>
          <a:noFill/>
        </p:spPr>
        <p:txBody>
          <a:bodyPr wrap="square">
            <a:spAutoFit/>
          </a:bodyPr>
          <a:lstStyle/>
          <a:p>
            <a:pPr>
              <a:buNone/>
            </a:pPr>
            <a:r>
              <a:rPr lang="en-IN" b="1" dirty="0"/>
              <a:t>7. Configuration Management Reviews</a:t>
            </a:r>
          </a:p>
          <a:p>
            <a:pPr marL="285750" indent="-285750">
              <a:buFont typeface="Arial" panose="020B0604020202020204" pitchFamily="34" charset="0"/>
              <a:buChar char="•"/>
            </a:pPr>
            <a:endParaRPr lang="en-IN" b="1" dirty="0"/>
          </a:p>
          <a:p>
            <a:pPr marL="285750" indent="-285750">
              <a:buFont typeface="Arial" panose="020B0604020202020204" pitchFamily="34" charset="0"/>
              <a:buChar char="•"/>
            </a:pPr>
            <a:r>
              <a:rPr lang="en-IN" dirty="0"/>
              <a:t>Configuration management reviews verify that the correct versions of pipeline code, configuration settings, and datasets are used across training, testing, and production environments.</a:t>
            </a:r>
          </a:p>
          <a:p>
            <a:pPr marL="285750" indent="-285750">
              <a:buFont typeface="Arial" panose="020B0604020202020204" pitchFamily="34" charset="0"/>
              <a:buChar char="•"/>
            </a:pPr>
            <a:r>
              <a:rPr lang="en-IN" dirty="0"/>
              <a:t>These reviews help prevent defects caused by incorrect configurations, mismatched versions, or inconsistent datasets.</a:t>
            </a:r>
          </a:p>
        </p:txBody>
      </p:sp>
    </p:spTree>
    <p:extLst>
      <p:ext uri="{BB962C8B-B14F-4D97-AF65-F5344CB8AC3E}">
        <p14:creationId xmlns:p14="http://schemas.microsoft.com/office/powerpoint/2010/main" val="22520124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2F0A4944-8572-A745-84CA-449F7CE1DB8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67470D3-FD09-89DC-D20A-4D148A60ECAF}"/>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35CF6F06-EE6E-FEE0-2AEC-2743441A1516}"/>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3075E209-777C-9AE5-B6AF-5D4F7C7592BF}"/>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3E5F4F59-59B7-B942-841F-6A04920F6B1D}"/>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sp>
        <p:nvSpPr>
          <p:cNvPr id="5" name="TextBox 4">
            <a:extLst>
              <a:ext uri="{FF2B5EF4-FFF2-40B4-BE49-F238E27FC236}">
                <a16:creationId xmlns:a16="http://schemas.microsoft.com/office/drawing/2014/main" id="{D3DD8A6C-D26D-582F-D4B1-ADC06845847B}"/>
              </a:ext>
            </a:extLst>
          </p:cNvPr>
          <p:cNvSpPr txBox="1"/>
          <p:nvPr/>
        </p:nvSpPr>
        <p:spPr>
          <a:xfrm>
            <a:off x="856170" y="1443841"/>
            <a:ext cx="9331625" cy="4801314"/>
          </a:xfrm>
          <a:prstGeom prst="rect">
            <a:avLst/>
          </a:prstGeom>
          <a:noFill/>
        </p:spPr>
        <p:txBody>
          <a:bodyPr wrap="square">
            <a:spAutoFit/>
          </a:bodyPr>
          <a:lstStyle/>
          <a:p>
            <a:pPr>
              <a:buNone/>
            </a:pPr>
            <a:r>
              <a:rPr lang="en-IN" b="1" dirty="0"/>
              <a:t>8. Testing Strategies for Training and Operational Pipelines</a:t>
            </a:r>
          </a:p>
          <a:p>
            <a:pPr>
              <a:buNone/>
            </a:pPr>
            <a:endParaRPr lang="en-IN" b="1" dirty="0"/>
          </a:p>
          <a:p>
            <a:pPr>
              <a:buNone/>
            </a:pPr>
            <a:r>
              <a:rPr lang="en-IN" dirty="0"/>
              <a:t>The testing strategy should be aligned with the purpose of the data pipeline.</a:t>
            </a:r>
          </a:p>
          <a:p>
            <a:pPr>
              <a:buNone/>
            </a:pPr>
            <a:endParaRPr lang="en-IN" dirty="0"/>
          </a:p>
          <a:p>
            <a:pPr>
              <a:buNone/>
            </a:pPr>
            <a:r>
              <a:rPr lang="en-IN" dirty="0"/>
              <a:t>a. Training Pipeline Testing</a:t>
            </a:r>
          </a:p>
          <a:p>
            <a:pPr>
              <a:buNone/>
            </a:pPr>
            <a:r>
              <a:rPr lang="en-IN" dirty="0"/>
              <a:t>Training pipelines are often developed as exploratory prototypes and are primarily used to prepare data for ML model training.</a:t>
            </a:r>
          </a:p>
          <a:p>
            <a:pPr>
              <a:buNone/>
            </a:pPr>
            <a:endParaRPr lang="en-IN" dirty="0"/>
          </a:p>
          <a:p>
            <a:pPr>
              <a:buNone/>
            </a:pPr>
            <a:r>
              <a:rPr lang="en-IN" dirty="0"/>
              <a:t>Testing these pipelines mainly focuses on data quality, data integrity, and correctness of data transformations.</a:t>
            </a:r>
          </a:p>
          <a:p>
            <a:pPr>
              <a:buNone/>
            </a:pPr>
            <a:endParaRPr lang="en-IN" dirty="0"/>
          </a:p>
          <a:p>
            <a:pPr>
              <a:buNone/>
            </a:pPr>
            <a:r>
              <a:rPr lang="en-IN" dirty="0"/>
              <a:t>b. Operational Pipeline Testing</a:t>
            </a:r>
          </a:p>
          <a:p>
            <a:pPr>
              <a:buNone/>
            </a:pPr>
            <a:endParaRPr lang="en-IN" dirty="0"/>
          </a:p>
          <a:p>
            <a:pPr>
              <a:buNone/>
            </a:pPr>
            <a:r>
              <a:rPr lang="en-IN" dirty="0"/>
              <a:t>Operational pipelines process data in production environments and must function reliably under real-world conditions.</a:t>
            </a:r>
          </a:p>
          <a:p>
            <a:pPr>
              <a:buNone/>
            </a:pPr>
            <a:r>
              <a:rPr lang="en-IN" dirty="0"/>
              <a:t>Testing these pipelines primarily focuses on reliability, performance, scalability, security, and maintainability.</a:t>
            </a:r>
          </a:p>
        </p:txBody>
      </p:sp>
    </p:spTree>
    <p:extLst>
      <p:ext uri="{BB962C8B-B14F-4D97-AF65-F5344CB8AC3E}">
        <p14:creationId xmlns:p14="http://schemas.microsoft.com/office/powerpoint/2010/main" val="1910004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FFDED"/>
        </a:solidFill>
        <a:effectLst/>
      </p:bgPr>
    </p:bg>
    <p:spTree>
      <p:nvGrpSpPr>
        <p:cNvPr id="1" name="">
          <a:extLst>
            <a:ext uri="{FF2B5EF4-FFF2-40B4-BE49-F238E27FC236}">
              <a16:creationId xmlns:a16="http://schemas.microsoft.com/office/drawing/2014/main" id="{4BFB213F-43EC-509D-A553-8E703F83CF9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EF3171F-EF62-4CA4-A542-4676183F95C4}"/>
              </a:ext>
            </a:extLst>
          </p:cNvPr>
          <p:cNvSpPr/>
          <p:nvPr/>
        </p:nvSpPr>
        <p:spPr>
          <a:xfrm>
            <a:off x="530352" y="393192"/>
            <a:ext cx="11109960" cy="475488"/>
          </a:xfrm>
          <a:prstGeom prst="rect">
            <a:avLst/>
          </a:prstGeom>
          <a:noFill/>
          <a:ln/>
        </p:spPr>
        <p:txBody>
          <a:bodyPr wrap="square" lIns="0" tIns="0" rIns="0" bIns="0" rtlCol="0" anchor="ctr"/>
          <a:lstStyle/>
          <a:p>
            <a:pPr marL="0" indent="0">
              <a:buNone/>
            </a:pPr>
            <a:endParaRPr lang="en-US" sz="2700" dirty="0"/>
          </a:p>
        </p:txBody>
      </p:sp>
      <p:sp>
        <p:nvSpPr>
          <p:cNvPr id="3" name="Shape 1">
            <a:extLst>
              <a:ext uri="{FF2B5EF4-FFF2-40B4-BE49-F238E27FC236}">
                <a16:creationId xmlns:a16="http://schemas.microsoft.com/office/drawing/2014/main" id="{4A54D3B0-F334-83B3-A25F-BE68853AC77E}"/>
              </a:ext>
            </a:extLst>
          </p:cNvPr>
          <p:cNvSpPr/>
          <p:nvPr/>
        </p:nvSpPr>
        <p:spPr>
          <a:xfrm>
            <a:off x="530352" y="941832"/>
            <a:ext cx="10515600" cy="0"/>
          </a:xfrm>
          <a:prstGeom prst="line">
            <a:avLst/>
          </a:prstGeom>
          <a:noFill/>
          <a:ln w="8255">
            <a:solidFill>
              <a:srgbClr val="454545"/>
            </a:solidFill>
            <a:prstDash val="solid"/>
          </a:ln>
        </p:spPr>
      </p:sp>
      <p:sp>
        <p:nvSpPr>
          <p:cNvPr id="9" name="TextBox 8">
            <a:extLst>
              <a:ext uri="{FF2B5EF4-FFF2-40B4-BE49-F238E27FC236}">
                <a16:creationId xmlns:a16="http://schemas.microsoft.com/office/drawing/2014/main" id="{5D89C006-26DB-036F-068D-D1A308E37472}"/>
              </a:ext>
            </a:extLst>
          </p:cNvPr>
          <p:cNvSpPr txBox="1"/>
          <p:nvPr/>
        </p:nvSpPr>
        <p:spPr>
          <a:xfrm>
            <a:off x="530352" y="393192"/>
            <a:ext cx="6094562" cy="461665"/>
          </a:xfrm>
          <a:prstGeom prst="rect">
            <a:avLst/>
          </a:prstGeom>
          <a:noFill/>
        </p:spPr>
        <p:txBody>
          <a:bodyPr wrap="square">
            <a:spAutoFit/>
          </a:bodyPr>
          <a:lstStyle/>
          <a:p>
            <a:r>
              <a:rPr lang="en-IN" sz="2400" dirty="0"/>
              <a:t>5.1.3 Data Pipeline Testing </a:t>
            </a:r>
          </a:p>
        </p:txBody>
      </p:sp>
      <p:sp>
        <p:nvSpPr>
          <p:cNvPr id="11" name="TextBox 10">
            <a:extLst>
              <a:ext uri="{FF2B5EF4-FFF2-40B4-BE49-F238E27FC236}">
                <a16:creationId xmlns:a16="http://schemas.microsoft.com/office/drawing/2014/main" id="{1343B23B-260F-E930-5200-ECF41DE2CE27}"/>
              </a:ext>
            </a:extLst>
          </p:cNvPr>
          <p:cNvSpPr txBox="1"/>
          <p:nvPr/>
        </p:nvSpPr>
        <p:spPr>
          <a:xfrm>
            <a:off x="1149470" y="1296239"/>
            <a:ext cx="8529368" cy="369332"/>
          </a:xfrm>
          <a:prstGeom prst="rect">
            <a:avLst/>
          </a:prstGeom>
          <a:noFill/>
        </p:spPr>
        <p:txBody>
          <a:bodyPr wrap="square">
            <a:spAutoFit/>
          </a:bodyPr>
          <a:lstStyle/>
          <a:p>
            <a:pPr>
              <a:buNone/>
            </a:pPr>
            <a:endParaRPr lang="en-IN" dirty="0"/>
          </a:p>
        </p:txBody>
      </p:sp>
      <p:graphicFrame>
        <p:nvGraphicFramePr>
          <p:cNvPr id="4" name="Table 3">
            <a:extLst>
              <a:ext uri="{FF2B5EF4-FFF2-40B4-BE49-F238E27FC236}">
                <a16:creationId xmlns:a16="http://schemas.microsoft.com/office/drawing/2014/main" id="{1B68D01C-6763-B6C1-D9E4-5E64EA7C0487}"/>
              </a:ext>
            </a:extLst>
          </p:cNvPr>
          <p:cNvGraphicFramePr>
            <a:graphicFrameLocks noGrp="1"/>
          </p:cNvGraphicFramePr>
          <p:nvPr>
            <p:extLst>
              <p:ext uri="{D42A27DB-BD31-4B8C-83A1-F6EECF244321}">
                <p14:modId xmlns:p14="http://schemas.microsoft.com/office/powerpoint/2010/main" val="2374444465"/>
              </p:ext>
            </p:extLst>
          </p:nvPr>
        </p:nvGraphicFramePr>
        <p:xfrm>
          <a:off x="622540" y="3017883"/>
          <a:ext cx="10515600" cy="3657600"/>
        </p:xfrm>
        <a:graphic>
          <a:graphicData uri="http://schemas.openxmlformats.org/drawingml/2006/table">
            <a:tbl>
              <a:tblPr>
                <a:tableStyleId>{5C22544A-7EE6-4342-B048-85BDC9FD1C3A}</a:tableStyleId>
              </a:tblPr>
              <a:tblGrid>
                <a:gridCol w="5257800">
                  <a:extLst>
                    <a:ext uri="{9D8B030D-6E8A-4147-A177-3AD203B41FA5}">
                      <a16:colId xmlns:a16="http://schemas.microsoft.com/office/drawing/2014/main" val="2922178573"/>
                    </a:ext>
                  </a:extLst>
                </a:gridCol>
                <a:gridCol w="5257800">
                  <a:extLst>
                    <a:ext uri="{9D8B030D-6E8A-4147-A177-3AD203B41FA5}">
                      <a16:colId xmlns:a16="http://schemas.microsoft.com/office/drawing/2014/main" val="1544443107"/>
                    </a:ext>
                  </a:extLst>
                </a:gridCol>
              </a:tblGrid>
              <a:tr h="0">
                <a:tc>
                  <a:txBody>
                    <a:bodyPr/>
                    <a:lstStyle/>
                    <a:p>
                      <a:pPr>
                        <a:buNone/>
                      </a:pPr>
                      <a:r>
                        <a:rPr lang="en-IN"/>
                        <a:t>Testing Level</a:t>
                      </a:r>
                    </a:p>
                  </a:txBody>
                  <a:tcPr anchor="ctr"/>
                </a:tc>
                <a:tc>
                  <a:txBody>
                    <a:bodyPr/>
                    <a:lstStyle/>
                    <a:p>
                      <a:pPr>
                        <a:buNone/>
                      </a:pPr>
                      <a:r>
                        <a:rPr lang="en-IN"/>
                        <a:t>Main Purpose</a:t>
                      </a:r>
                    </a:p>
                  </a:txBody>
                  <a:tcPr anchor="ctr"/>
                </a:tc>
                <a:extLst>
                  <a:ext uri="{0D108BD9-81ED-4DB2-BD59-A6C34878D82A}">
                    <a16:rowId xmlns:a16="http://schemas.microsoft.com/office/drawing/2014/main" val="1616910597"/>
                  </a:ext>
                </a:extLst>
              </a:tr>
              <a:tr h="0">
                <a:tc>
                  <a:txBody>
                    <a:bodyPr/>
                    <a:lstStyle/>
                    <a:p>
                      <a:pPr>
                        <a:buNone/>
                      </a:pPr>
                      <a:r>
                        <a:rPr lang="en-IN"/>
                        <a:t>Design Reviews</a:t>
                      </a:r>
                    </a:p>
                  </a:txBody>
                  <a:tcPr anchor="ctr"/>
                </a:tc>
                <a:tc>
                  <a:txBody>
                    <a:bodyPr/>
                    <a:lstStyle/>
                    <a:p>
                      <a:pPr>
                        <a:buNone/>
                      </a:pPr>
                      <a:r>
                        <a:rPr lang="en-IN"/>
                        <a:t>Verify the pipeline architecture and design</a:t>
                      </a:r>
                    </a:p>
                  </a:txBody>
                  <a:tcPr anchor="ctr"/>
                </a:tc>
                <a:extLst>
                  <a:ext uri="{0D108BD9-81ED-4DB2-BD59-A6C34878D82A}">
                    <a16:rowId xmlns:a16="http://schemas.microsoft.com/office/drawing/2014/main" val="763986991"/>
                  </a:ext>
                </a:extLst>
              </a:tr>
              <a:tr h="0">
                <a:tc>
                  <a:txBody>
                    <a:bodyPr/>
                    <a:lstStyle/>
                    <a:p>
                      <a:pPr>
                        <a:buNone/>
                      </a:pPr>
                      <a:r>
                        <a:rPr lang="en-IN"/>
                        <a:t>Component Testing</a:t>
                      </a:r>
                    </a:p>
                  </a:txBody>
                  <a:tcPr anchor="ctr"/>
                </a:tc>
                <a:tc>
                  <a:txBody>
                    <a:bodyPr/>
                    <a:lstStyle/>
                    <a:p>
                      <a:pPr>
                        <a:buNone/>
                      </a:pPr>
                      <a:r>
                        <a:rPr lang="en-IN"/>
                        <a:t>Test individual pipeline components</a:t>
                      </a:r>
                    </a:p>
                  </a:txBody>
                  <a:tcPr anchor="ctr"/>
                </a:tc>
                <a:extLst>
                  <a:ext uri="{0D108BD9-81ED-4DB2-BD59-A6C34878D82A}">
                    <a16:rowId xmlns:a16="http://schemas.microsoft.com/office/drawing/2014/main" val="1346218310"/>
                  </a:ext>
                </a:extLst>
              </a:tr>
              <a:tr h="0">
                <a:tc>
                  <a:txBody>
                    <a:bodyPr/>
                    <a:lstStyle/>
                    <a:p>
                      <a:pPr>
                        <a:buNone/>
                      </a:pPr>
                      <a:r>
                        <a:rPr lang="en-IN"/>
                        <a:t>Component Integration Testing</a:t>
                      </a:r>
                    </a:p>
                  </a:txBody>
                  <a:tcPr anchor="ctr"/>
                </a:tc>
                <a:tc>
                  <a:txBody>
                    <a:bodyPr/>
                    <a:lstStyle/>
                    <a:p>
                      <a:pPr>
                        <a:buNone/>
                      </a:pPr>
                      <a:r>
                        <a:rPr lang="en-IN"/>
                        <a:t>Verify data flow between internal components</a:t>
                      </a:r>
                    </a:p>
                  </a:txBody>
                  <a:tcPr anchor="ctr"/>
                </a:tc>
                <a:extLst>
                  <a:ext uri="{0D108BD9-81ED-4DB2-BD59-A6C34878D82A}">
                    <a16:rowId xmlns:a16="http://schemas.microsoft.com/office/drawing/2014/main" val="2040063909"/>
                  </a:ext>
                </a:extLst>
              </a:tr>
              <a:tr h="0">
                <a:tc>
                  <a:txBody>
                    <a:bodyPr/>
                    <a:lstStyle/>
                    <a:p>
                      <a:pPr>
                        <a:buNone/>
                      </a:pPr>
                      <a:r>
                        <a:rPr lang="en-IN"/>
                        <a:t>System Testing</a:t>
                      </a:r>
                    </a:p>
                  </a:txBody>
                  <a:tcPr anchor="ctr"/>
                </a:tc>
                <a:tc>
                  <a:txBody>
                    <a:bodyPr/>
                    <a:lstStyle/>
                    <a:p>
                      <a:pPr>
                        <a:buNone/>
                      </a:pPr>
                      <a:r>
                        <a:rPr lang="en-IN"/>
                        <a:t>Test the complete pipeline's functionality and quality</a:t>
                      </a:r>
                    </a:p>
                  </a:txBody>
                  <a:tcPr anchor="ctr"/>
                </a:tc>
                <a:extLst>
                  <a:ext uri="{0D108BD9-81ED-4DB2-BD59-A6C34878D82A}">
                    <a16:rowId xmlns:a16="http://schemas.microsoft.com/office/drawing/2014/main" val="4046244088"/>
                  </a:ext>
                </a:extLst>
              </a:tr>
              <a:tr h="0">
                <a:tc>
                  <a:txBody>
                    <a:bodyPr/>
                    <a:lstStyle/>
                    <a:p>
                      <a:pPr>
                        <a:buNone/>
                      </a:pPr>
                      <a:r>
                        <a:rPr lang="en-IN"/>
                        <a:t>System Integration Testing</a:t>
                      </a:r>
                    </a:p>
                  </a:txBody>
                  <a:tcPr anchor="ctr"/>
                </a:tc>
                <a:tc>
                  <a:txBody>
                    <a:bodyPr/>
                    <a:lstStyle/>
                    <a:p>
                      <a:pPr>
                        <a:buNone/>
                      </a:pPr>
                      <a:r>
                        <a:rPr lang="en-IN"/>
                        <a:t>Verify interactions with external systems</a:t>
                      </a:r>
                    </a:p>
                  </a:txBody>
                  <a:tcPr anchor="ctr"/>
                </a:tc>
                <a:extLst>
                  <a:ext uri="{0D108BD9-81ED-4DB2-BD59-A6C34878D82A}">
                    <a16:rowId xmlns:a16="http://schemas.microsoft.com/office/drawing/2014/main" val="1481196904"/>
                  </a:ext>
                </a:extLst>
              </a:tr>
              <a:tr h="0">
                <a:tc>
                  <a:txBody>
                    <a:bodyPr/>
                    <a:lstStyle/>
                    <a:p>
                      <a:pPr>
                        <a:buNone/>
                      </a:pPr>
                      <a:r>
                        <a:rPr lang="en-IN" dirty="0"/>
                        <a:t>Testing in Production</a:t>
                      </a:r>
                    </a:p>
                  </a:txBody>
                  <a:tcPr anchor="ctr"/>
                </a:tc>
                <a:tc>
                  <a:txBody>
                    <a:bodyPr/>
                    <a:lstStyle/>
                    <a:p>
                      <a:pPr>
                        <a:buNone/>
                      </a:pPr>
                      <a:r>
                        <a:rPr lang="en-IN"/>
                        <a:t>Validate the pipeline in a live environment</a:t>
                      </a:r>
                    </a:p>
                  </a:txBody>
                  <a:tcPr anchor="ctr"/>
                </a:tc>
                <a:extLst>
                  <a:ext uri="{0D108BD9-81ED-4DB2-BD59-A6C34878D82A}">
                    <a16:rowId xmlns:a16="http://schemas.microsoft.com/office/drawing/2014/main" val="2034288674"/>
                  </a:ext>
                </a:extLst>
              </a:tr>
              <a:tr h="0">
                <a:tc>
                  <a:txBody>
                    <a:bodyPr/>
                    <a:lstStyle/>
                    <a:p>
                      <a:pPr>
                        <a:buNone/>
                      </a:pPr>
                      <a:r>
                        <a:rPr lang="en-IN"/>
                        <a:t>Configuration Management Reviews</a:t>
                      </a:r>
                    </a:p>
                  </a:txBody>
                  <a:tcPr anchor="ctr"/>
                </a:tc>
                <a:tc>
                  <a:txBody>
                    <a:bodyPr/>
                    <a:lstStyle/>
                    <a:p>
                      <a:pPr>
                        <a:buNone/>
                      </a:pPr>
                      <a:r>
                        <a:rPr lang="en-IN"/>
                        <a:t>Verify correct code, configurations, and datasets</a:t>
                      </a:r>
                    </a:p>
                  </a:txBody>
                  <a:tcPr anchor="ctr"/>
                </a:tc>
                <a:extLst>
                  <a:ext uri="{0D108BD9-81ED-4DB2-BD59-A6C34878D82A}">
                    <a16:rowId xmlns:a16="http://schemas.microsoft.com/office/drawing/2014/main" val="3179464827"/>
                  </a:ext>
                </a:extLst>
              </a:tr>
              <a:tr h="0">
                <a:tc>
                  <a:txBody>
                    <a:bodyPr/>
                    <a:lstStyle/>
                    <a:p>
                      <a:pPr>
                        <a:buNone/>
                      </a:pPr>
                      <a:r>
                        <a:rPr lang="en-IN"/>
                        <a:t>Training Pipeline Testing</a:t>
                      </a:r>
                    </a:p>
                  </a:txBody>
                  <a:tcPr anchor="ctr"/>
                </a:tc>
                <a:tc>
                  <a:txBody>
                    <a:bodyPr/>
                    <a:lstStyle/>
                    <a:p>
                      <a:pPr>
                        <a:buNone/>
                      </a:pPr>
                      <a:r>
                        <a:rPr lang="en-IN"/>
                        <a:t>Focus on data integrity and correctness</a:t>
                      </a:r>
                    </a:p>
                  </a:txBody>
                  <a:tcPr anchor="ctr"/>
                </a:tc>
                <a:extLst>
                  <a:ext uri="{0D108BD9-81ED-4DB2-BD59-A6C34878D82A}">
                    <a16:rowId xmlns:a16="http://schemas.microsoft.com/office/drawing/2014/main" val="3434025314"/>
                  </a:ext>
                </a:extLst>
              </a:tr>
              <a:tr h="0">
                <a:tc>
                  <a:txBody>
                    <a:bodyPr/>
                    <a:lstStyle/>
                    <a:p>
                      <a:pPr>
                        <a:buNone/>
                      </a:pPr>
                      <a:r>
                        <a:rPr lang="en-IN"/>
                        <a:t>Operational Pipeline Testing</a:t>
                      </a:r>
                    </a:p>
                  </a:txBody>
                  <a:tcPr anchor="ctr"/>
                </a:tc>
                <a:tc>
                  <a:txBody>
                    <a:bodyPr/>
                    <a:lstStyle/>
                    <a:p>
                      <a:pPr>
                        <a:buNone/>
                      </a:pPr>
                      <a:r>
                        <a:rPr lang="en-IN" dirty="0"/>
                        <a:t>Focus on reliability, performance, and maintainability</a:t>
                      </a:r>
                    </a:p>
                  </a:txBody>
                  <a:tcPr anchor="ctr"/>
                </a:tc>
                <a:extLst>
                  <a:ext uri="{0D108BD9-81ED-4DB2-BD59-A6C34878D82A}">
                    <a16:rowId xmlns:a16="http://schemas.microsoft.com/office/drawing/2014/main" val="873206109"/>
                  </a:ext>
                </a:extLst>
              </a:tr>
            </a:tbl>
          </a:graphicData>
        </a:graphic>
      </p:graphicFrame>
      <p:sp>
        <p:nvSpPr>
          <p:cNvPr id="6" name="TextBox 5">
            <a:extLst>
              <a:ext uri="{FF2B5EF4-FFF2-40B4-BE49-F238E27FC236}">
                <a16:creationId xmlns:a16="http://schemas.microsoft.com/office/drawing/2014/main" id="{A8A39BFE-890D-994F-985F-A23784E1FF00}"/>
              </a:ext>
            </a:extLst>
          </p:cNvPr>
          <p:cNvSpPr txBox="1"/>
          <p:nvPr/>
        </p:nvSpPr>
        <p:spPr>
          <a:xfrm>
            <a:off x="622540" y="1014985"/>
            <a:ext cx="9858554" cy="1477328"/>
          </a:xfrm>
          <a:prstGeom prst="rect">
            <a:avLst/>
          </a:prstGeom>
          <a:noFill/>
        </p:spPr>
        <p:txBody>
          <a:bodyPr wrap="square">
            <a:spAutoFit/>
          </a:bodyPr>
          <a:lstStyle/>
          <a:p>
            <a:pPr>
              <a:buNone/>
            </a:pPr>
            <a:r>
              <a:rPr lang="en-IN" b="1" dirty="0"/>
              <a:t>Summary of Data Pipeline Testing</a:t>
            </a:r>
          </a:p>
          <a:p>
            <a:pPr>
              <a:buNone/>
            </a:pPr>
            <a:endParaRPr lang="en-IN" b="1" dirty="0"/>
          </a:p>
          <a:p>
            <a:pPr>
              <a:buNone/>
            </a:pPr>
            <a:r>
              <a:rPr lang="en-IN" dirty="0"/>
              <a:t>Key Takeaway: Data pipeline testing ensures that data is collected, transformed, transferred, and processed correctly throughout the ML workflow. It combines different testing levels and techniques to maintain data quality, prevent defects, protect data integrity, and ensure reliable ML system operation.</a:t>
            </a:r>
          </a:p>
        </p:txBody>
      </p:sp>
    </p:spTree>
    <p:extLst>
      <p:ext uri="{BB962C8B-B14F-4D97-AF65-F5344CB8AC3E}">
        <p14:creationId xmlns:p14="http://schemas.microsoft.com/office/powerpoint/2010/main" val="1986900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DFFDED"/>
        </a:solidFill>
        <a:effectLst/>
      </p:bgPr>
    </p:bg>
    <p:spTree>
      <p:nvGrpSpPr>
        <p:cNvPr id="1" name=""/>
        <p:cNvGrpSpPr/>
        <p:nvPr/>
      </p:nvGrpSpPr>
      <p:grpSpPr>
        <a:xfrm>
          <a:off x="0" y="0"/>
          <a:ext cx="0" cy="0"/>
          <a:chOff x="0" y="0"/>
          <a:chExt cx="0" cy="0"/>
        </a:xfrm>
      </p:grpSpPr>
      <p:sp>
        <p:nvSpPr>
          <p:cNvPr id="2" name="Text 0"/>
          <p:cNvSpPr/>
          <p:nvPr/>
        </p:nvSpPr>
        <p:spPr>
          <a:xfrm>
            <a:off x="3657600" y="2834640"/>
            <a:ext cx="5029200" cy="640080"/>
          </a:xfrm>
          <a:prstGeom prst="rect">
            <a:avLst/>
          </a:prstGeom>
          <a:noFill/>
          <a:ln/>
        </p:spPr>
        <p:txBody>
          <a:bodyPr wrap="square" lIns="0" tIns="0" rIns="0" bIns="0" rtlCol="0" anchor="ctr"/>
          <a:lstStyle/>
          <a:p>
            <a:pPr marL="0" indent="0" algn="ctr">
              <a:buNone/>
            </a:pPr>
            <a:r>
              <a:rPr lang="en-US" sz="3100" b="1" dirty="0">
                <a:solidFill>
                  <a:srgbClr val="080808"/>
                </a:solidFill>
                <a:latin typeface="Arial" pitchFamily="34" charset="0"/>
                <a:ea typeface="Arial" pitchFamily="34" charset="-122"/>
                <a:cs typeface="Arial" pitchFamily="34" charset="-120"/>
              </a:rPr>
              <a:t>THANK YOU!!!</a:t>
            </a:r>
            <a:endParaRPr lang="en-US" sz="3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TotalTime>
  <Words>1034</Words>
  <Application>Microsoft Office PowerPoint</Application>
  <PresentationFormat>Widescreen</PresentationFormat>
  <Paragraphs>127</Paragraphs>
  <Slides>11</Slides>
  <Notes>11</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11</vt:i4>
      </vt:variant>
    </vt:vector>
  </HeadingPairs>
  <TitlesOfParts>
    <vt:vector size="13"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Calculation of Machine Learning Functional Performance Metrics</dc:title>
  <dc:subject>ISTQB CT-AI 3.3.1</dc:subject>
  <dc:creator>OpenAI</dc:creator>
  <cp:lastModifiedBy>Anurag Patil</cp:lastModifiedBy>
  <cp:revision>22</cp:revision>
  <dcterms:created xsi:type="dcterms:W3CDTF">2026-10-14T05:21:37Z</dcterms:created>
  <dcterms:modified xsi:type="dcterms:W3CDTF">2026-10-19T05:51:10Z</dcterms:modified>
</cp:coreProperties>
</file>