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110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C2DB8-D073-619B-FBC5-1D2B32A0E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AA7490-0627-00C6-42F0-0B11AAF85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D92911-F5DE-D44F-8431-A936E5262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EABCA-2EF1-22DF-7F48-703EFF9AF6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35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6E778-BA67-23B2-A782-2CE93DC75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2E014-374B-0FC5-0944-0179882C6F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1CBEC1-754E-8D0B-D397-EC63D1B176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0F02DD-54AE-DE37-2EF6-4F23F72166F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3257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E252F-D12B-34F4-DB8C-D5303E09E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BBCE15-6C15-CDAC-E52A-968A90333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64E75-3293-2929-B66B-0DACBD5EC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4CE3D-C4B6-5657-F273-B9AEA76969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5113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06D0A-222F-94E5-B039-7C6A7CFDA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CF7462-FB04-0A5D-347D-66BD42331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C89FD-D7FE-726E-0FFF-EE47B9FF9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69A3AD-DCAD-C3F9-1077-4E93A5EFB0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741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87744-4848-6447-41A4-E4F59116D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561F5B-AE42-7DFA-E550-FF545DB6C2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40BE8C-66BF-B55C-36F1-981DA109A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6B973-A902-7841-28E0-139A58C718D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7977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5B21B-B625-6F90-F282-34550546C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B95644-A150-1037-382B-9D677513D4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069325-3B25-3696-9BF9-2B2A1CD9A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96290C-BCCF-59BF-729A-2945095DB0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681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BF209-00A5-E071-01C6-0288227C6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0FA2E-69C9-2BE3-2FF7-DBF4826FE5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C7623C-E21E-42D3-D456-4C675306E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F829F0-B674-B2B1-7DD5-212DA16FEB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031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CF257-92C2-B3EF-253B-A11B23CDD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8815F0-6F1C-426B-04A1-BAFA7B9F7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2C49A5-E4A7-6728-271A-3C835D4BF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BCA35-4E56-927B-52C9-59F4F355FF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5563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EDB60-DD25-7213-5535-5B699E657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BC2607-8E64-C7B0-9C9D-31B2EB3720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3E0764-E30C-638E-E611-6E87BCCC53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80DED-DD5D-F213-8F5D-FC57CBF9B0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25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1FF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800" dirty="0"/>
              <a:t>3.4.3 Coverage Measures for Neural Networks 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F0020-0F14-81E9-1A0C-C8228EFE932E}"/>
              </a:ext>
            </a:extLst>
          </p:cNvPr>
          <p:cNvSpPr txBox="1"/>
          <p:nvPr/>
        </p:nvSpPr>
        <p:spPr>
          <a:xfrm>
            <a:off x="640511" y="1308203"/>
            <a:ext cx="852074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Neural Network Structural Coverage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Neural network structural coverage metrics are used to measure how thoroughly a neural network's internal neurons and their activations are tested.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Unlike traditional software, neural networks do not follow explicitly programmed execution paths. Their </a:t>
            </a:r>
            <a:r>
              <a:rPr lang="en-IN" dirty="0" err="1"/>
              <a:t>behavior</a:t>
            </a:r>
            <a:r>
              <a:rPr lang="en-IN" dirty="0"/>
              <a:t> depends on learned weights, biases, and activation values. Therefore, specialized coverage metrics are needed to evaluate neural network testing.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CA3DD-9FCC-EBDB-3C92-EE6F54D50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B94C8B5-351C-4242-05BB-0C4652D5DFEF}"/>
              </a:ext>
            </a:extLst>
          </p:cNvPr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800" dirty="0"/>
              <a:t>3.4.3 Coverage Measures for Neural Networks 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C667D06-05CE-537B-510F-C539BF90D0FC}"/>
              </a:ext>
            </a:extLst>
          </p:cNvPr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A866B1-6446-C53A-30A4-2E45F783A860}"/>
              </a:ext>
            </a:extLst>
          </p:cNvPr>
          <p:cNvSpPr txBox="1"/>
          <p:nvPr/>
        </p:nvSpPr>
        <p:spPr>
          <a:xfrm>
            <a:off x="718149" y="1431725"/>
            <a:ext cx="836546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b="1" dirty="0"/>
              <a:t>Types of Neural Network Coverage Metrics</a:t>
            </a:r>
          </a:p>
          <a:p>
            <a:pPr marL="342900" indent="-342900">
              <a:buAutoNum type="arabicPeriod"/>
            </a:pPr>
            <a:endParaRPr lang="en-IN" b="1" dirty="0"/>
          </a:p>
          <a:p>
            <a:pPr marL="342900" indent="-342900">
              <a:buAutoNum type="alphaUcPeriod"/>
            </a:pPr>
            <a:r>
              <a:rPr lang="en-IN" b="1" dirty="0"/>
              <a:t>Neuron Coverage (NC)</a:t>
            </a:r>
          </a:p>
          <a:p>
            <a:pPr marL="342900" indent="-342900">
              <a:buAutoNum type="alphaUcPeriod"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Neuron Coverage measures the percentage of neurons whose activation values exceed a specified threshold during testing.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It helps identify which neurons have been activated and which remain untested.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Higher neuron coverage indicates that more neurons have been activated during testing.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dirty="0"/>
              <a:t>Example: If a neural network contains 100 neurons and 80 exceed the activation threshold during testing, the neuron coverage is 80%.</a:t>
            </a:r>
          </a:p>
        </p:txBody>
      </p:sp>
    </p:spTree>
    <p:extLst>
      <p:ext uri="{BB962C8B-B14F-4D97-AF65-F5344CB8AC3E}">
        <p14:creationId xmlns:p14="http://schemas.microsoft.com/office/powerpoint/2010/main" val="1756636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BCFE9E-D28E-64CB-5AE9-BA47DEE77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9BB016-1034-2EB5-393A-0EA552DAA273}"/>
              </a:ext>
            </a:extLst>
          </p:cNvPr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800" dirty="0"/>
              <a:t>3.4.3 Coverage Measures for Neural Networks 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21D6155-5956-18DA-54AE-E7670A10A412}"/>
              </a:ext>
            </a:extLst>
          </p:cNvPr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3986E5-4536-C576-7014-690B869F661C}"/>
              </a:ext>
            </a:extLst>
          </p:cNvPr>
          <p:cNvSpPr txBox="1"/>
          <p:nvPr/>
        </p:nvSpPr>
        <p:spPr>
          <a:xfrm>
            <a:off x="718149" y="1431725"/>
            <a:ext cx="83654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B. k-</a:t>
            </a:r>
            <a:r>
              <a:rPr lang="en-IN" b="1" dirty="0" err="1"/>
              <a:t>Multisection</a:t>
            </a:r>
            <a:r>
              <a:rPr lang="en-IN" b="1" dirty="0"/>
              <a:t> Neuron Coverage (</a:t>
            </a:r>
            <a:r>
              <a:rPr lang="en-IN" b="1" dirty="0" err="1"/>
              <a:t>kMNC</a:t>
            </a:r>
            <a:r>
              <a:rPr lang="en-IN" b="1" dirty="0"/>
              <a:t>)</a:t>
            </a:r>
          </a:p>
          <a:p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k-</a:t>
            </a:r>
            <a:r>
              <a:rPr lang="en-IN" dirty="0" err="1"/>
              <a:t>Multisection</a:t>
            </a:r>
            <a:r>
              <a:rPr lang="en-IN" dirty="0"/>
              <a:t> Neuron Coverage divides the possible output range of each neuron into k sections.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It measures how many of these sections are exercised by the test inputs.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It provides a more detailed measurement of neuron activation than basic Neuron Coverage.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Example: If a neuron's output range is divided into 5 sections and testing activates 4 sections, the coverage for that neuron is 80%.</a:t>
            </a:r>
          </a:p>
          <a:p>
            <a:pPr marL="342900" indent="-3429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6722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FB6292-C794-F2D3-4B16-E79E85558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D8BB043-C24A-7649-02C7-5075B49C09C4}"/>
              </a:ext>
            </a:extLst>
          </p:cNvPr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800" dirty="0"/>
              <a:t>3.4.3 Coverage Measures for Neural Networks 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6F8D52B-9479-8470-8AB6-2A316E97B61C}"/>
              </a:ext>
            </a:extLst>
          </p:cNvPr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A516A8-A9AF-AB1F-6F3E-A46F393290C5}"/>
              </a:ext>
            </a:extLst>
          </p:cNvPr>
          <p:cNvSpPr txBox="1"/>
          <p:nvPr/>
        </p:nvSpPr>
        <p:spPr>
          <a:xfrm>
            <a:off x="718149" y="1431725"/>
            <a:ext cx="83654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C. Neuron Boundary Coverage (NBC)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Neuron Boundary Coverage measures whether neurons produce activation values outside their observed training ranges.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It checks whether neuron outputs exceed the maximum or fall below the minimum values recorded during training.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It helps identify unusual activation </a:t>
            </a:r>
            <a:r>
              <a:rPr lang="en-IN" dirty="0" err="1"/>
              <a:t>behavior</a:t>
            </a:r>
            <a:r>
              <a:rPr lang="en-IN" dirty="0"/>
              <a:t> that was not observed during training.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Example: If a neuron's activation values ranged from 0.2 to 0.8 during training, test outputs of 0.1 or 0.9 exercise its lower or upper boundary.</a:t>
            </a:r>
          </a:p>
          <a:p>
            <a:pPr marL="342900" indent="-342900"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78042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90C355-48A5-C139-4EF3-F2FD4565B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4AB950F-5E8E-29F5-AB7A-9DB300925B3B}"/>
              </a:ext>
            </a:extLst>
          </p:cNvPr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800" dirty="0"/>
              <a:t>3.4.3 Coverage Measures for Neural Networks 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594A79E-A423-6726-CC37-6CAF63D161B1}"/>
              </a:ext>
            </a:extLst>
          </p:cNvPr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D539241-9AC3-2783-5BF8-8F273E1E4E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6379958"/>
              </p:ext>
            </p:extLst>
          </p:nvPr>
        </p:nvGraphicFramePr>
        <p:xfrm>
          <a:off x="364466" y="1697383"/>
          <a:ext cx="105156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80726662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636872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Coverage 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 It Measures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72138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Neuron Coverage (NC)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Whether neuron activations exceed a specified threshold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0612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k-Multisection Neuron Coverage (kMNC)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How many sections of the neuron activation ranges are exercised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6886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Neuron Boundary Coverage (NBC)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Whether neuron activations go beyond their training minimum or maximum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05215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12730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8980A6-CD74-1A90-B790-E29A21ED5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638E950-D032-E763-51D8-4CDAAD188288}"/>
              </a:ext>
            </a:extLst>
          </p:cNvPr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800" dirty="0"/>
              <a:t>3.4.3 Coverage Measures for Neural Networks 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EF05FC7-2EAD-EF4B-1A8A-9F25CBF2DEB0}"/>
              </a:ext>
            </a:extLst>
          </p:cNvPr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F72D01-6165-920B-14CA-19687DE09F19}"/>
              </a:ext>
            </a:extLst>
          </p:cNvPr>
          <p:cNvSpPr txBox="1"/>
          <p:nvPr/>
        </p:nvSpPr>
        <p:spPr>
          <a:xfrm>
            <a:off x="1252986" y="1522910"/>
            <a:ext cx="8184311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3. Importance of Structural Coverage in AI Testing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Structural coverage metrics help identify neurons and layers that have not been sufficiently tested.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They help reveal areas of the neural network that may contain hidden defects or unlearned </a:t>
            </a:r>
            <a:r>
              <a:rPr lang="en-IN" dirty="0" err="1"/>
              <a:t>behaviors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Low coverage may indicate that certain decision boundaries have not been adequately exercised.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Testers can design additional test inputs to activate underexplored parts of the network.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Commercial tools specifically supporting these coverage metrics are currently limited.</a:t>
            </a:r>
          </a:p>
        </p:txBody>
      </p:sp>
    </p:spTree>
    <p:extLst>
      <p:ext uri="{BB962C8B-B14F-4D97-AF65-F5344CB8AC3E}">
        <p14:creationId xmlns:p14="http://schemas.microsoft.com/office/powerpoint/2010/main" val="2066444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A3F3D-6C8D-6D7E-7780-8E4138D78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B21FF8D-F740-9657-66E0-816943E72C73}"/>
              </a:ext>
            </a:extLst>
          </p:cNvPr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800" dirty="0"/>
              <a:t>3.4.3 Coverage Measures for Neural Networks 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631139D-E64D-A5B4-F154-ED5A4C9A759E}"/>
              </a:ext>
            </a:extLst>
          </p:cNvPr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84C1AF-653B-BD40-5FE8-45E38C5680E3}"/>
              </a:ext>
            </a:extLst>
          </p:cNvPr>
          <p:cNvSpPr txBox="1"/>
          <p:nvPr/>
        </p:nvSpPr>
        <p:spPr>
          <a:xfrm>
            <a:off x="778533" y="1454375"/>
            <a:ext cx="78392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4. Limitations of Neural Network Structural Coverage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High structural coverage does not guarantee that the neural network will perform correctly in real-world situations.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 neural network may produce correct predictions based on incorrect or irrelevant patterns, known as spurious correlations.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Activating more neurons does not necessarily mean that the model has learned the correct </a:t>
            </a:r>
            <a:r>
              <a:rPr lang="en-IN" dirty="0" err="1"/>
              <a:t>behavior</a:t>
            </a:r>
            <a:r>
              <a:rPr lang="en-IN" dirty="0"/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Structural coverage should therefore be combined with other AI testing techniques.</a:t>
            </a:r>
          </a:p>
        </p:txBody>
      </p:sp>
    </p:spTree>
    <p:extLst>
      <p:ext uri="{BB962C8B-B14F-4D97-AF65-F5344CB8AC3E}">
        <p14:creationId xmlns:p14="http://schemas.microsoft.com/office/powerpoint/2010/main" val="36264447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1E0799-3CDD-7B3F-321A-691F54BAE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85280F8-5E49-ED16-AE70-DB7E73C0B678}"/>
              </a:ext>
            </a:extLst>
          </p:cNvPr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800" dirty="0"/>
              <a:t>3.4.3 Coverage Measures for Neural Networks 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9334A36-DDD0-A811-1DCC-A8109FED54DA}"/>
              </a:ext>
            </a:extLst>
          </p:cNvPr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63C3B-24A4-BAB3-FAAB-6E8F99CEBB22}"/>
              </a:ext>
            </a:extLst>
          </p:cNvPr>
          <p:cNvSpPr txBox="1"/>
          <p:nvPr/>
        </p:nvSpPr>
        <p:spPr>
          <a:xfrm>
            <a:off x="761280" y="1619708"/>
            <a:ext cx="775299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5. Additional Testing Techniques</a:t>
            </a:r>
          </a:p>
          <a:p>
            <a:pPr>
              <a:buNone/>
            </a:pPr>
            <a:endParaRPr lang="en-IN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Adversarial Testing: Tests how the neural network behaves when inputs are intentionally modified to cause incorrect predictions.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Metamorphic Testing: Tests whether the model's outputs maintain expected relationships when inputs are transformed in predefined ways.</a:t>
            </a:r>
          </a:p>
        </p:txBody>
      </p:sp>
    </p:spTree>
    <p:extLst>
      <p:ext uri="{BB962C8B-B14F-4D97-AF65-F5344CB8AC3E}">
        <p14:creationId xmlns:p14="http://schemas.microsoft.com/office/powerpoint/2010/main" val="3453613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8ABB64-CEBC-8E29-5D4F-0F2EA38C5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38A07C-D057-577D-BF09-49017EEDAD15}"/>
              </a:ext>
            </a:extLst>
          </p:cNvPr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800" dirty="0"/>
              <a:t>3.4.3 Coverage Measures for Neural Networks 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DCF903C-65D1-B476-13ED-AC8CF04757A1}"/>
              </a:ext>
            </a:extLst>
          </p:cNvPr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280FE0-0AD8-48D7-1EE5-2D74CD3D0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2512304"/>
              </p:ext>
            </p:extLst>
          </p:nvPr>
        </p:nvGraphicFramePr>
        <p:xfrm>
          <a:off x="777815" y="2399369"/>
          <a:ext cx="10515600" cy="3566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68112781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6730033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Testing Technique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6414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Neuron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 how many neurons become activated when different cat images are provided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7325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k-</a:t>
                      </a:r>
                      <a:r>
                        <a:rPr lang="en-IN" dirty="0" err="1"/>
                        <a:t>Multisection</a:t>
                      </a:r>
                      <a:r>
                        <a:rPr lang="en-IN" dirty="0"/>
                        <a:t>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 whether test images exercise different activation ranges of the neurons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1936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Neuron Boundary Coverage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 whether unusual images produce activation values outside the training ranges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4185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Adversarial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 carefully designed small changes to an image and check whether the prediction changes incorrectly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38963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Metamorphic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Adjust image brightness and check whether the prediction remains consistent where expected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785820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F44149F-1AA8-7777-1A40-73B59AB39724}"/>
              </a:ext>
            </a:extLst>
          </p:cNvPr>
          <p:cNvSpPr txBox="1"/>
          <p:nvPr/>
        </p:nvSpPr>
        <p:spPr>
          <a:xfrm>
            <a:off x="512064" y="1123008"/>
            <a:ext cx="60945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6. Practical Example: Cat Image Recognition</a:t>
            </a:r>
          </a:p>
          <a:p>
            <a:pPr>
              <a:buNone/>
            </a:pPr>
            <a:r>
              <a:rPr lang="en-IN" dirty="0"/>
              <a:t>Suppose we are testing a neural network that identifies cats in images.</a:t>
            </a:r>
          </a:p>
        </p:txBody>
      </p:sp>
    </p:spTree>
    <p:extLst>
      <p:ext uri="{BB962C8B-B14F-4D97-AF65-F5344CB8AC3E}">
        <p14:creationId xmlns:p14="http://schemas.microsoft.com/office/powerpoint/2010/main" val="3149433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FE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EF0011-A84F-5983-2EDB-F9F934F80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6BAE89D-EBAB-A11F-D17D-104EFEF969F6}"/>
              </a:ext>
            </a:extLst>
          </p:cNvPr>
          <p:cNvSpPr/>
          <p:nvPr/>
        </p:nvSpPr>
        <p:spPr>
          <a:xfrm>
            <a:off x="512064" y="292608"/>
            <a:ext cx="112471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800" dirty="0"/>
              <a:t>3.4.3 Coverage Measures for Neural Networks </a:t>
            </a:r>
            <a:endParaRPr lang="en-US" sz="27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86621CA-DE9C-7E36-D83D-C9D2F475173D}"/>
              </a:ext>
            </a:extLst>
          </p:cNvPr>
          <p:cNvSpPr/>
          <p:nvPr/>
        </p:nvSpPr>
        <p:spPr>
          <a:xfrm>
            <a:off x="512064" y="964692"/>
            <a:ext cx="10881360" cy="0"/>
          </a:xfrm>
          <a:prstGeom prst="line">
            <a:avLst/>
          </a:prstGeom>
          <a:noFill/>
          <a:ln w="9525">
            <a:solidFill>
              <a:srgbClr val="111111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C6F9D-5969-9FD7-B295-91FBD58CE9D3}"/>
              </a:ext>
            </a:extLst>
          </p:cNvPr>
          <p:cNvSpPr txBox="1"/>
          <p:nvPr/>
        </p:nvSpPr>
        <p:spPr>
          <a:xfrm>
            <a:off x="623258" y="1612034"/>
            <a:ext cx="855524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Key takeaway: Neural network structural coverage metrics help testers understand how thoroughly the internal network has been exercised. </a:t>
            </a:r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However, high coverage does not guarantee model correctness, so additional testing techniques are necessary to evaluate reliability and robustness.</a:t>
            </a:r>
          </a:p>
        </p:txBody>
      </p:sp>
    </p:spTree>
    <p:extLst>
      <p:ext uri="{BB962C8B-B14F-4D97-AF65-F5344CB8AC3E}">
        <p14:creationId xmlns:p14="http://schemas.microsoft.com/office/powerpoint/2010/main" val="991240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756</Words>
  <Application>Microsoft Office PowerPoint</Application>
  <PresentationFormat>Widescreen</PresentationFormat>
  <Paragraphs>88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3.4.1 Structure and Working of a Deep Neural Network</dc:title>
  <dc:subject>PptxGenJS Presentation</dc:subject>
  <dc:creator>OpenAI</dc:creator>
  <cp:lastModifiedBy>Anurag Patil</cp:lastModifiedBy>
  <cp:revision>11</cp:revision>
  <dcterms:created xsi:type="dcterms:W3CDTF">2026-10-14T17:45:21Z</dcterms:created>
  <dcterms:modified xsi:type="dcterms:W3CDTF">2026-10-15T03:58:18Z</dcterms:modified>
</cp:coreProperties>
</file>