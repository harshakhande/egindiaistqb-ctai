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ISTQB CT-AI  |  SECTION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for Machine Learning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9344"/>
            <a:ext cx="10972800" cy="0"/>
          </a:xfrm>
          <a:prstGeom prst="line">
            <a:avLst/>
          </a:prstGeom>
          <a:noFill/>
          <a:ln w="19050">
            <a:solidFill>
              <a:srgbClr val="BC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7168"/>
                </a:solidFill>
              </a:rPr>
              <a:t>3.2 Data for Machine Learning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411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7168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02996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46B58"/>
                </a:solidFill>
              </a:rPr>
              <a:t>Why data preparation matters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94944" y="2724912"/>
            <a:ext cx="1069848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2B"/>
                </a:solidFill>
              </a:rPr>
              <a:t>Data preparation is one of the most crucial and resource-intensive activities in the ML workflow.</a:t>
            </a:r>
            <a:endParaRPr lang="en-US" sz="2900" dirty="0"/>
          </a:p>
        </p:txBody>
      </p:sp>
      <p:sp>
        <p:nvSpPr>
          <p:cNvPr id="9" name="Shape 7"/>
          <p:cNvSpPr/>
          <p:nvPr/>
        </p:nvSpPr>
        <p:spPr>
          <a:xfrm>
            <a:off x="694944" y="4572000"/>
            <a:ext cx="10652760" cy="1005840"/>
          </a:xfrm>
          <a:prstGeom prst="roundRect">
            <a:avLst>
              <a:gd name="adj" fmla="val 14545"/>
            </a:avLst>
          </a:prstGeom>
          <a:solidFill>
            <a:srgbClr val="DDF0E7"/>
          </a:solidFill>
          <a:ln w="12700">
            <a:solidFill>
              <a:srgbClr val="DDF0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484632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6B58"/>
                </a:solidFill>
              </a:rPr>
              <a:t>Key idea: A model can only be reliable when the data used to prepare and operate it is appropriate.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ISTQB CT-AI  |  SECTION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Preparation: The Major Effort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9344"/>
            <a:ext cx="10972800" cy="0"/>
          </a:xfrm>
          <a:prstGeom prst="line">
            <a:avLst/>
          </a:prstGeom>
          <a:noFill/>
          <a:ln w="19050">
            <a:solidFill>
              <a:srgbClr val="BC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7168"/>
                </a:solidFill>
              </a:rPr>
              <a:t>3.2 Data for Machine Learning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411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7168"/>
                </a:solidFill>
              </a:rPr>
              <a:t>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93392"/>
            <a:ext cx="5230368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2700">
            <a:solidFill>
              <a:srgbClr val="BCD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94560"/>
            <a:ext cx="4773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</a:rPr>
              <a:t>Resource-intensive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724912"/>
            <a:ext cx="4773168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312B"/>
                </a:solidFill>
              </a:rPr>
              <a:t>Preparing data typically takes a significantly larger share of the overall ML effort than model selection and building.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0" y="1993392"/>
            <a:ext cx="5230368" cy="3364992"/>
          </a:xfrm>
          <a:prstGeom prst="roundRect">
            <a:avLst>
              <a:gd name="adj" fmla="val 3804"/>
            </a:avLst>
          </a:prstGeom>
          <a:solidFill>
            <a:srgbClr val="FFFFFF"/>
          </a:solidFill>
          <a:ln w="12700">
            <a:solidFill>
              <a:srgbClr val="BCD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2194560"/>
            <a:ext cx="477316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</a:rPr>
              <a:t>Crucial to performance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00800" y="2724912"/>
            <a:ext cx="4773168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312B"/>
                </a:solidFill>
              </a:rPr>
              <a:t>The quality and suitability of the prepared data strongly influence the model’s functional performance.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ISTQB CT-AI  |  SECTION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Training Data vs. Operational Data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9344"/>
            <a:ext cx="10972800" cy="0"/>
          </a:xfrm>
          <a:prstGeom prst="line">
            <a:avLst/>
          </a:prstGeom>
          <a:noFill/>
          <a:ln w="19050">
            <a:solidFill>
              <a:srgbClr val="BC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7168"/>
                </a:solidFill>
              </a:rPr>
              <a:t>3.2 Data for Machine Learning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411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7168"/>
                </a:solidFill>
              </a:rPr>
              <a:t>03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5800" y="1956816"/>
            <a:ext cx="5193792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CD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157984"/>
            <a:ext cx="4736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</a:rPr>
              <a:t>Training data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2688336"/>
            <a:ext cx="47365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312B"/>
                </a:solidFill>
              </a:rPr>
              <a:t>The data used to train the ML model and learn patterns.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99632" y="1956816"/>
            <a:ext cx="5193792" cy="288036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BCD9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28232" y="2157984"/>
            <a:ext cx="47365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</a:rPr>
              <a:t>Operational data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28232" y="2688336"/>
            <a:ext cx="473659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312B"/>
                </a:solidFill>
              </a:rPr>
              <a:t>The real-world data the ML model encounters when it is used.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9808" y="5202936"/>
            <a:ext cx="10543032" cy="758952"/>
          </a:xfrm>
          <a:prstGeom prst="roundRect">
            <a:avLst>
              <a:gd name="adj" fmla="val 14458"/>
            </a:avLst>
          </a:prstGeom>
          <a:solidFill>
            <a:srgbClr val="FCE8C3"/>
          </a:solidFill>
          <a:ln w="12700">
            <a:solidFill>
              <a:srgbClr val="E8C4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5404104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75416"/>
                </a:solidFill>
              </a:rPr>
              <a:t>If operational data differs substantially, performance and safety assumptions may no longer hold.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ISTQB CT-AI  |  SECTION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Machine Learning Data Pipeline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9344"/>
            <a:ext cx="10972800" cy="0"/>
          </a:xfrm>
          <a:prstGeom prst="line">
            <a:avLst/>
          </a:prstGeom>
          <a:noFill/>
          <a:ln w="19050">
            <a:solidFill>
              <a:srgbClr val="BC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7168"/>
                </a:solidFill>
              </a:rPr>
              <a:t>3.2 Data for Machine Learning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411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7168"/>
                </a:solidFill>
              </a:rPr>
              <a:t>04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57784" y="2395728"/>
            <a:ext cx="25420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BCD9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267919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58"/>
                </a:solidFill>
              </a:rPr>
              <a:t>Raw data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7512" y="309067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7168"/>
                </a:solidFill>
              </a:rPr>
              <a:t>Original input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163824" y="2916936"/>
            <a:ext cx="228600" cy="356616"/>
          </a:xfrm>
          <a:prstGeom prst="chevron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47288" y="2395728"/>
            <a:ext cx="2542032" cy="1417320"/>
          </a:xfrm>
          <a:prstGeom prst="roundRect">
            <a:avLst>
              <a:gd name="adj" fmla="val 10323"/>
            </a:avLst>
          </a:prstGeom>
          <a:solidFill>
            <a:srgbClr val="146B58"/>
          </a:solidFill>
          <a:ln w="15240">
            <a:solidFill>
              <a:srgbClr val="146B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57016" y="267919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Data pipeline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57016" y="309067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4F4EF"/>
                </a:solidFill>
              </a:rPr>
              <a:t>Process and transform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53328" y="2916936"/>
            <a:ext cx="228600" cy="356616"/>
          </a:xfrm>
          <a:prstGeom prst="chevron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6792" y="2395728"/>
            <a:ext cx="25420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BCD9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267919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58"/>
                </a:solidFill>
              </a:rPr>
              <a:t>Usable data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46520" y="309067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7168"/>
                </a:solidFill>
              </a:rPr>
              <a:t>Model-ready format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942832" y="2916936"/>
            <a:ext cx="228600" cy="356616"/>
          </a:xfrm>
          <a:prstGeom prst="chevron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26296" y="2395728"/>
            <a:ext cx="25420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BCD9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36024" y="2679192"/>
            <a:ext cx="2322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6B58"/>
                </a:solidFill>
              </a:rPr>
              <a:t>ML model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36024" y="3090672"/>
            <a:ext cx="2322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47168"/>
                </a:solidFill>
              </a:rPr>
              <a:t>Training or prediction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87552" y="4562856"/>
            <a:ext cx="10149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9312B"/>
                </a:solidFill>
              </a:rPr>
              <a:t>The data pipeline transforms raw data into a usable format for both model training and prediction.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ISTQB CT-AI  |  SECTION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Illustrative Example: Image Classification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9344"/>
            <a:ext cx="10972800" cy="0"/>
          </a:xfrm>
          <a:prstGeom prst="line">
            <a:avLst/>
          </a:prstGeom>
          <a:noFill/>
          <a:ln w="19050">
            <a:solidFill>
              <a:srgbClr val="BC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7168"/>
                </a:solidFill>
              </a:rPr>
              <a:t>3.2 Data for Machine Learning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411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7168"/>
                </a:solidFill>
              </a:rPr>
              <a:t>05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" y="1938528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47168"/>
                </a:solidFill>
              </a:rPr>
              <a:t>Example added for understanding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450592"/>
            <a:ext cx="3383280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BCD9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5176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</a:rPr>
              <a:t>Raw data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14400" y="3182112"/>
            <a:ext cx="2926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312B"/>
                </a:solidFill>
              </a:rPr>
              <a:t>Photos from different cameras, sizes and lighting conditions.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407408" y="2450592"/>
            <a:ext cx="3383280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BCD9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265176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</a:rPr>
              <a:t>Preparation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36008" y="3182112"/>
            <a:ext cx="2926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312B"/>
                </a:solidFill>
              </a:rPr>
              <a:t>Resize and format images so the model can use them.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19872" y="2450592"/>
            <a:ext cx="3383280" cy="2487168"/>
          </a:xfrm>
          <a:prstGeom prst="roundRect">
            <a:avLst>
              <a:gd name="adj" fmla="val 5147"/>
            </a:avLst>
          </a:prstGeom>
          <a:solidFill>
            <a:srgbClr val="FFFFFF"/>
          </a:solidFill>
          <a:ln w="12700">
            <a:solidFill>
              <a:srgbClr val="BCD9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48472" y="2651760"/>
            <a:ext cx="2926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</a:rPr>
              <a:t>Model use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48472" y="3182112"/>
            <a:ext cx="29260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312B"/>
                </a:solidFill>
              </a:rPr>
              <a:t>Train the classifier and apply suitable processing when making predictions.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49808" y="5440680"/>
            <a:ext cx="106984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6B58"/>
                </a:solidFill>
              </a:rPr>
              <a:t>Important: If the real-world images differ significantly from training images, model accuracy may drop.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46B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ISTQB CT-AI  |  SECTION 3.2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93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94360" y="1609344"/>
            <a:ext cx="10972800" cy="0"/>
          </a:xfrm>
          <a:prstGeom prst="line">
            <a:avLst/>
          </a:prstGeom>
          <a:noFill/>
          <a:ln w="19050">
            <a:solidFill>
              <a:srgbClr val="BCD9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6492240"/>
            <a:ext cx="5486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7168"/>
                </a:solidFill>
              </a:rPr>
              <a:t>3.2 Data for Machine Learning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09960" y="6464808"/>
            <a:ext cx="411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47168"/>
                </a:solidFill>
              </a:rPr>
              <a:t>06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" y="1975104"/>
            <a:ext cx="393192" cy="393192"/>
          </a:xfrm>
          <a:prstGeom prst="ellipse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039112"/>
            <a:ext cx="283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44168" y="1938528"/>
            <a:ext cx="9875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9312B"/>
                </a:solidFill>
              </a:rPr>
              <a:t>Data preparation is crucial and often takes more effort than choosing or building the model.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49808" y="2926080"/>
            <a:ext cx="393192" cy="393192"/>
          </a:xfrm>
          <a:prstGeom prst="ellipse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90088"/>
            <a:ext cx="283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44168" y="2889504"/>
            <a:ext cx="9875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9312B"/>
                </a:solidFill>
              </a:rPr>
              <a:t>A data pipeline processes and transforms raw data into usable input.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49808" y="3877056"/>
            <a:ext cx="393192" cy="393192"/>
          </a:xfrm>
          <a:prstGeom prst="ellipse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941064"/>
            <a:ext cx="283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44168" y="3840480"/>
            <a:ext cx="9875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9312B"/>
                </a:solidFill>
              </a:rPr>
              <a:t>The pipeline supports both training and prediction.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49808" y="4828032"/>
            <a:ext cx="393192" cy="393192"/>
          </a:xfrm>
          <a:prstGeom prst="ellipse">
            <a:avLst/>
          </a:prstGeom>
          <a:solidFill>
            <a:srgbClr val="146B58"/>
          </a:solidFill>
          <a:ln w="12700">
            <a:solidFill>
              <a:srgbClr val="146B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892040"/>
            <a:ext cx="283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44168" y="4791456"/>
            <a:ext cx="98755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9312B"/>
                </a:solidFill>
              </a:rPr>
              <a:t>Differences between training and operational data can undermine performance and safety assumptions.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3.2 Data for Machine Learning</dc:title>
  <dc:subject>ISTQB CT-AI 3.2 Data for Machine Learning</dc:subject>
  <dc:creator>OpenAI</dc:creator>
  <cp:lastModifiedBy>OpenAI</cp:lastModifiedBy>
  <cp:revision>1</cp:revision>
  <dcterms:created xsi:type="dcterms:W3CDTF">2026-10-14T04:54:29Z</dcterms:created>
  <dcterms:modified xsi:type="dcterms:W3CDTF">2026-10-14T04:54:29Z</dcterms:modified>
</cp:coreProperties>
</file>