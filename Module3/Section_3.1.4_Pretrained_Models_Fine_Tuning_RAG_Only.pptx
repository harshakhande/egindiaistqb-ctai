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1410"/>
                </a:solidFill>
                <a:latin typeface="Arial"/>
              </a:defRPr>
            </a:pPr>
            <a:r>
              <a:t>3.1.4 Pretrained Models, Fine-Tuning and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78408"/>
            <a:ext cx="9418320" cy="10972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72800" cy="384048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4C3C"/>
                </a:solidFill>
                <a:latin typeface="Arial"/>
              </a:defRPr>
            </a:pPr>
            <a:r>
              <a:t>Why adapt an existing AI model?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200400"/>
          </a:xfrm>
          <a:prstGeom prst="roundRect">
            <a:avLst/>
          </a:prstGeom>
          <a:solidFill>
            <a:srgbClr val="F6FFFB"/>
          </a:solidFill>
          <a:ln>
            <a:solidFill>
              <a:srgbClr val="78A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" y="2093976"/>
            <a:ext cx="3108960" cy="3931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4C3C"/>
                </a:solidFill>
                <a:latin typeface="Arial"/>
              </a:defRPr>
            </a:pPr>
            <a:r>
              <a:t>Pretrained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560320"/>
            <a:ext cx="3108960" cy="254203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A neural network already trained on a large amount of data.</a:t>
            </a:r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endParaRPr/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It has learned reusable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65960"/>
            <a:ext cx="3383280" cy="3200400"/>
          </a:xfrm>
          <a:prstGeom prst="roundRect">
            <a:avLst/>
          </a:prstGeom>
          <a:solidFill>
            <a:srgbClr val="F6FFFB"/>
          </a:solidFill>
          <a:ln>
            <a:solidFill>
              <a:srgbClr val="78A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2093976"/>
            <a:ext cx="3108960" cy="3931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4C3C"/>
                </a:solidFill>
                <a:latin typeface="Arial"/>
              </a:defRPr>
            </a:pPr>
            <a:r>
              <a:t>Fine-tuning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560320"/>
            <a:ext cx="3108960" cy="254203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Additional training on data specific to a new task.</a:t>
            </a:r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endParaRPr/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Model parameters may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9016" y="1965960"/>
            <a:ext cx="3383280" cy="3200400"/>
          </a:xfrm>
          <a:prstGeom prst="roundRect">
            <a:avLst/>
          </a:prstGeom>
          <a:solidFill>
            <a:srgbClr val="F6FFFB"/>
          </a:solidFill>
          <a:ln>
            <a:solidFill>
              <a:srgbClr val="78A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2093976"/>
            <a:ext cx="3108960" cy="3931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4C3C"/>
                </a:solidFill>
                <a:latin typeface="Arial"/>
              </a:defRPr>
            </a:pPr>
            <a:r>
              <a:t>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560320"/>
            <a:ext cx="3108960" cy="254203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Retrieve task-relevant information and include it in the prompt.</a:t>
            </a:r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endParaRPr/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Model parameters do not change.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789920" cy="59436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04C3C"/>
                </a:solidFill>
                <a:latin typeface="Arial"/>
              </a:defRPr>
            </a:pPr>
            <a:r>
              <a:t>Training from scratch is often costly and time-consuming; adaptation can reduce effort.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1410"/>
                </a:solidFill>
                <a:latin typeface="Arial"/>
              </a:defRPr>
            </a:pPr>
            <a:r>
              <a:t>Fine-Tuning: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78408"/>
            <a:ext cx="9418320" cy="10972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795528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C1410"/>
                </a:solidFill>
                <a:latin typeface="Arial"/>
              </a:defRPr>
            </a:pPr>
            <a:r>
              <a:t>• Start with a pretrained neural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10789920" cy="795528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C1410"/>
                </a:solidFill>
                <a:latin typeface="Arial"/>
              </a:defRPr>
            </a:pPr>
            <a:r>
              <a:t>• Prepare training data specific to the new task.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35808"/>
            <a:ext cx="10789920" cy="795528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C1410"/>
                </a:solidFill>
                <a:latin typeface="Arial"/>
              </a:defRPr>
            </a:pPr>
            <a:r>
              <a:t>• Perform additional training to adapt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77056"/>
            <a:ext cx="10789920" cy="795528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C1410"/>
                </a:solidFill>
                <a:latin typeface="Arial"/>
              </a:defRPr>
            </a:pPr>
            <a:r>
              <a:t>• Evaluate functional performance against acceptance criteria.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18304"/>
            <a:ext cx="10789920" cy="795528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C1410"/>
                </a:solidFill>
                <a:latin typeface="Arial"/>
              </a:defRPr>
            </a:pPr>
            <a:r>
              <a:t>• Fine-tune again if the required performance is not met.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5422392"/>
            <a:ext cx="2880360" cy="822960"/>
          </a:xfrm>
          <a:prstGeom prst="roundRect">
            <a:avLst/>
          </a:prstGeom>
          <a:solidFill>
            <a:srgbClr val="EEFAF5"/>
          </a:solidFill>
          <a:ln>
            <a:solidFill>
              <a:srgbClr val="78A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95944" y="5550407"/>
            <a:ext cx="2606040" cy="3931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4C3C"/>
                </a:solidFill>
                <a:latin typeface="Arial"/>
              </a:defRPr>
            </a:pPr>
            <a:r>
              <a:t>Key benefit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5944" y="6016752"/>
            <a:ext cx="2606040" cy="1645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Less data and training effort than starting from scratch.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1410"/>
                </a:solidFill>
                <a:latin typeface="Arial"/>
              </a:defRPr>
            </a:pPr>
            <a:r>
              <a:t>What Parts of the Model Can Be Fine-Tuned?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78408"/>
            <a:ext cx="9418320" cy="10972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37560" cy="3291840"/>
          </a:xfrm>
          <a:prstGeom prst="roundRect">
            <a:avLst/>
          </a:prstGeom>
          <a:solidFill>
            <a:srgbClr val="F6FFFB"/>
          </a:solidFill>
          <a:ln>
            <a:solidFill>
              <a:srgbClr val="78A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636776"/>
            <a:ext cx="3063240" cy="3931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4C3C"/>
                </a:solidFill>
                <a:latin typeface="Arial"/>
              </a:defRPr>
            </a:pPr>
            <a:r>
              <a:t>Option 1: All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03120"/>
            <a:ext cx="3063240" cy="263347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Update the entire neural network using new task-specific training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08760"/>
            <a:ext cx="3337560" cy="3291840"/>
          </a:xfrm>
          <a:prstGeom prst="roundRect">
            <a:avLst/>
          </a:prstGeom>
          <a:solidFill>
            <a:srgbClr val="F6FFFB"/>
          </a:solidFill>
          <a:ln>
            <a:solidFill>
              <a:srgbClr val="78A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81144" y="1636776"/>
            <a:ext cx="3063240" cy="3931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4C3C"/>
                </a:solidFill>
                <a:latin typeface="Arial"/>
              </a:defRPr>
            </a:pPr>
            <a:r>
              <a:t>Option 2: Selected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144" y="2103120"/>
            <a:ext cx="3063240" cy="263347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Update only certain layers, often those near the model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337560" cy="3291840"/>
          </a:xfrm>
          <a:prstGeom prst="roundRect">
            <a:avLst/>
          </a:prstGeom>
          <a:solidFill>
            <a:srgbClr val="F6FFFB"/>
          </a:solidFill>
          <a:ln>
            <a:solidFill>
              <a:srgbClr val="78A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84464" y="1636776"/>
            <a:ext cx="3063240" cy="3931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4C3C"/>
                </a:solidFill>
                <a:latin typeface="Arial"/>
              </a:defRPr>
            </a:pPr>
            <a:r>
              <a:t>Option 3: Added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103120"/>
            <a:ext cx="3063240" cy="263347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Train newly added task-specific layers while reusing the pretrained network.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058400" cy="77724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04C3C"/>
                </a:solidFill>
                <a:latin typeface="Arial"/>
              </a:defRPr>
            </a:pPr>
            <a:r>
              <a:t>Choose the approach based on training data, resources, and acceptance criteria.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1410"/>
                </a:solidFill>
                <a:latin typeface="Arial"/>
              </a:defRPr>
            </a:pPr>
            <a:r>
              <a:t>Fine-Tuning: Similar Tasks Work Better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78408"/>
            <a:ext cx="9418320" cy="10972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72800" cy="384048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4C3C"/>
                </a:solidFill>
                <a:latin typeface="Arial"/>
              </a:defRPr>
            </a:pPr>
            <a:r>
              <a:t>The similarity between the original task and new task matters.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5120640" cy="3291840"/>
          </a:xfrm>
          <a:prstGeom prst="roundRect">
            <a:avLst/>
          </a:prstGeom>
          <a:solidFill>
            <a:srgbClr val="F2FFF9"/>
          </a:solidFill>
          <a:ln>
            <a:solidFill>
              <a:srgbClr val="78A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3544" y="1865376"/>
            <a:ext cx="4846320" cy="3931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4C3C"/>
                </a:solidFill>
                <a:latin typeface="Arial"/>
              </a:defRPr>
            </a:pPr>
            <a:r>
              <a:t>Good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331720"/>
            <a:ext cx="4846320" cy="263347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Original task: Identify cat breeds</a:t>
            </a:r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New task: Identify dog breeds</a:t>
            </a:r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endParaRPr/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Both use animal images and related visual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120640" cy="3291840"/>
          </a:xfrm>
          <a:prstGeom prst="roundRect">
            <a:avLst/>
          </a:prstGeom>
          <a:solidFill>
            <a:srgbClr val="F8FCF8"/>
          </a:solidFill>
          <a:ln>
            <a:solidFill>
              <a:srgbClr val="78A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64224" y="1865376"/>
            <a:ext cx="4846320" cy="3931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4C3C"/>
                </a:solidFill>
                <a:latin typeface="Arial"/>
              </a:defRPr>
            </a:pPr>
            <a:r>
              <a:t>Poorer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2331720"/>
            <a:ext cx="4846320" cy="263347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Original task: Identify cat breeds</a:t>
            </a:r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New task: Recognize spoken accents</a:t>
            </a:r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endParaRPr/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Different data types and patterns make adaptation harder.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789920" cy="59436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4C3C"/>
                </a:solidFill>
                <a:latin typeface="Arial"/>
              </a:defRPr>
            </a:pPr>
            <a:r>
              <a:t>LLM example: Fine-tune an LLM to apply ISTQB-defined boundary value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1410"/>
                </a:solidFill>
                <a:latin typeface="Arial"/>
              </a:defRPr>
            </a:pPr>
            <a:r>
              <a:t>Retrieval-Augmented Generation (RAG)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78408"/>
            <a:ext cx="9418320" cy="10972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72800" cy="384048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4C3C"/>
                </a:solidFill>
                <a:latin typeface="Arial"/>
              </a:defRPr>
            </a:pPr>
            <a:r>
              <a:t>Use relevant source documents without changing model parameters.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240280" cy="2103120"/>
          </a:xfrm>
          <a:prstGeom prst="roundRect">
            <a:avLst/>
          </a:prstGeom>
          <a:solidFill>
            <a:srgbClr val="F6FFFB"/>
          </a:solidFill>
          <a:ln>
            <a:solidFill>
              <a:srgbClr val="78A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1956816"/>
            <a:ext cx="1965960" cy="3931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4C3C"/>
                </a:solidFill>
                <a:latin typeface="Arial"/>
              </a:defRPr>
            </a:pPr>
            <a:r>
              <a:t>1.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423160"/>
            <a:ext cx="1965960" cy="1444751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Task-specific documents and knowledge.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1828800"/>
            <a:ext cx="2240280" cy="2103120"/>
          </a:xfrm>
          <a:prstGeom prst="roundRect">
            <a:avLst/>
          </a:prstGeom>
          <a:solidFill>
            <a:srgbClr val="F6FFFB"/>
          </a:solidFill>
          <a:ln>
            <a:solidFill>
              <a:srgbClr val="78A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65576" y="1956816"/>
            <a:ext cx="1965960" cy="3931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4C3C"/>
                </a:solidFill>
                <a:latin typeface="Arial"/>
              </a:defRPr>
            </a:pPr>
            <a:r>
              <a:t>2.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5576" y="2423160"/>
            <a:ext cx="1965960" cy="1444751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Transform and index sources; retrieve relevant content.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16168" y="1828800"/>
            <a:ext cx="2240280" cy="2103120"/>
          </a:xfrm>
          <a:prstGeom prst="roundRect">
            <a:avLst/>
          </a:prstGeom>
          <a:solidFill>
            <a:srgbClr val="F6FFFB"/>
          </a:solidFill>
          <a:ln>
            <a:solidFill>
              <a:srgbClr val="78A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62472" y="1956816"/>
            <a:ext cx="1965960" cy="3931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4C3C"/>
                </a:solidFill>
                <a:latin typeface="Arial"/>
              </a:defRPr>
            </a:pPr>
            <a:r>
              <a:t>3.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2472" y="2423160"/>
            <a:ext cx="1965960" cy="1444751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Combine the user question with retrieved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828800"/>
            <a:ext cx="2852928" cy="2103120"/>
          </a:xfrm>
          <a:prstGeom prst="roundRect">
            <a:avLst/>
          </a:prstGeom>
          <a:solidFill>
            <a:srgbClr val="F6FFFB"/>
          </a:solidFill>
          <a:ln>
            <a:solidFill>
              <a:srgbClr val="78A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50224" y="1956816"/>
            <a:ext cx="2578608" cy="3931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4C3C"/>
                </a:solidFill>
                <a:latin typeface="Arial"/>
              </a:defRPr>
            </a:pPr>
            <a:r>
              <a:t>4. LLM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0224" y="2423160"/>
            <a:ext cx="2578608" cy="1444751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Generate a response grounded in the supplied context.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08376" y="2880360"/>
            <a:ext cx="237744" cy="0"/>
          </a:xfrm>
          <a:prstGeom prst="line">
            <a:avLst/>
          </a:prstGeom>
          <a:ln w="31750">
            <a:solidFill>
              <a:srgbClr val="10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596128" y="2880360"/>
            <a:ext cx="237744" cy="0"/>
          </a:xfrm>
          <a:prstGeom prst="line">
            <a:avLst/>
          </a:prstGeom>
          <a:ln w="31750">
            <a:solidFill>
              <a:srgbClr val="10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193024" y="2880360"/>
            <a:ext cx="237744" cy="0"/>
          </a:xfrm>
          <a:prstGeom prst="line">
            <a:avLst/>
          </a:prstGeom>
          <a:ln w="31750">
            <a:solidFill>
              <a:srgbClr val="10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" y="4663440"/>
            <a:ext cx="10332720" cy="137160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C1410"/>
                </a:solidFill>
                <a:latin typeface="Arial"/>
              </a:defRPr>
            </a:pPr>
            <a:r>
              <a:t>Example: A question about an ISTQB testing technique retrieves the relevant syllabus content and provides it to the LLM, helping it produce a more precise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1410"/>
                </a:solidFill>
                <a:latin typeface="Arial"/>
              </a:defRPr>
            </a:pPr>
            <a:r>
              <a:t>Fine-Tuning vs.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78408"/>
            <a:ext cx="9418320" cy="10972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166360" cy="4160520"/>
          </a:xfrm>
          <a:prstGeom prst="roundRect">
            <a:avLst/>
          </a:prstGeom>
          <a:solidFill>
            <a:srgbClr val="F6FFFB"/>
          </a:solidFill>
          <a:ln>
            <a:solidFill>
              <a:srgbClr val="78A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545336"/>
            <a:ext cx="4892040" cy="3931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4C3C"/>
                </a:solidFill>
                <a:latin typeface="Arial"/>
              </a:defRPr>
            </a:pPr>
            <a:r>
              <a:t>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011680"/>
            <a:ext cx="4892040" cy="350215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Changes model parameters through additional training.</a:t>
            </a:r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endParaRPr/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Useful when model behavior or task skills must be adapted.</a:t>
            </a:r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endParaRPr/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Needs suitable task-specific training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166360" cy="4160520"/>
          </a:xfrm>
          <a:prstGeom prst="roundRect">
            <a:avLst/>
          </a:prstGeom>
          <a:solidFill>
            <a:srgbClr val="F6FFFB"/>
          </a:solidFill>
          <a:ln>
            <a:solidFill>
              <a:srgbClr val="78A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9944" y="1545336"/>
            <a:ext cx="4892040" cy="3931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4C3C"/>
                </a:solidFill>
                <a:latin typeface="Arial"/>
              </a:defRPr>
            </a:pPr>
            <a: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9944" y="2011680"/>
            <a:ext cx="4892040" cy="350215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Does not change model parameters.</a:t>
            </a:r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endParaRPr/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Useful when answers need current or domain-specific information.</a:t>
            </a:r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endParaRPr/>
          </a:p>
          <a:p>
            <a:pPr>
              <a:spcAft>
                <a:spcPts val="1000"/>
              </a:spcAft>
              <a:defRPr sz="1500" b="0">
                <a:solidFill>
                  <a:srgbClr val="0C1410"/>
                </a:solidFill>
                <a:latin typeface="Arial"/>
              </a:defRPr>
            </a:pPr>
            <a:r>
              <a:t>Needs searchable, relevant source material.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33872"/>
            <a:ext cx="10515600" cy="475488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04C3C"/>
                </a:solidFill>
                <a:latin typeface="Arial"/>
              </a:defRPr>
            </a:pPr>
            <a:r>
              <a:t>Both approaches can be combined in the same AI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1410"/>
                </a:solidFill>
                <a:latin typeface="Arial"/>
              </a:defRPr>
            </a:pPr>
            <a:r>
              <a:t>Testing Adapted AI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78408"/>
            <a:ext cx="9418320" cy="10972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72800" cy="384048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4C3C"/>
                </a:solidFill>
                <a:latin typeface="Arial"/>
              </a:defRPr>
            </a:pPr>
            <a:r>
              <a:t>Pretrained models can carry forward existing problems.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26464"/>
            <a:ext cx="10789920" cy="786384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C1410"/>
                </a:solidFill>
                <a:latin typeface="Arial"/>
              </a:defRPr>
            </a:pPr>
            <a:r>
              <a:t>• Biases in the original pretrained model may persist.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58568"/>
            <a:ext cx="10789920" cy="786384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C1410"/>
                </a:solidFill>
                <a:latin typeface="Arial"/>
              </a:defRPr>
            </a:pPr>
            <a:r>
              <a:t>• Security weaknesses or vulnerabilities may also carry 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10789920" cy="786384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C1410"/>
                </a:solidFill>
                <a:latin typeface="Arial"/>
              </a:defRPr>
            </a:pPr>
            <a:r>
              <a:t>• Test ML functional performance using the new task’s acceptance criteria.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22776"/>
            <a:ext cx="10789920" cy="786384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C1410"/>
                </a:solidFill>
                <a:latin typeface="Arial"/>
              </a:defRPr>
            </a:pPr>
            <a:r>
              <a:t>• Check reliability, fairness, and task-specific risks.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54880"/>
            <a:ext cx="10789920" cy="786384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C1410"/>
                </a:solidFill>
                <a:latin typeface="Arial"/>
              </a:defRPr>
            </a:pPr>
            <a:r>
              <a:t>• Retest after further fine-tuning or changes to RAG 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507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Anurag Patil</cp:lastModifiedBy>
  <cp:revision>1</cp:revision>
  <dcterms:created xsi:type="dcterms:W3CDTF">2013-01-27T09:14:16Z</dcterms:created>
  <dcterms:modified xsi:type="dcterms:W3CDTF">2026-10-14T04:52:42Z</dcterms:modified>
  <cp:category/>
</cp:coreProperties>
</file>