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3.2.1 Activities in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C5B68"/>
                </a:solidFill>
              </a:defRPr>
            </a:pPr>
            <a:r>
              <a:t>ISTQB CT-AI  |  Training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301752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9144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42A38"/>
                </a:solidFill>
              </a:defRPr>
            </a:pPr>
            <a:r>
              <a:t>Prepare data that is accurate, suitable, consistent and useful for ML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67328"/>
            <a:ext cx="960120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07A78"/>
                </a:solidFill>
              </a:defRPr>
            </a:pPr>
            <a:r>
              <a:t>Core activities: Acquisition  •  Preprocessing  •  Feature engineering  •  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The Data Preparation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C5B68"/>
                </a:solidFill>
              </a:defRPr>
            </a:pPr>
            <a:r>
              <a:t>A practical overview — activities may be reordered, repeated or omitted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606040" cy="18288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12848"/>
            <a:ext cx="22037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1  Acquire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2203704" cy="111556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Collect and label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2679192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07A7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57400"/>
            <a:ext cx="2606040" cy="18288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212848"/>
            <a:ext cx="22037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2  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715768"/>
            <a:ext cx="2203704" cy="111556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Clean, transform and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679192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07A7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057400"/>
            <a:ext cx="2606040" cy="18288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212848"/>
            <a:ext cx="22037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3 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715768"/>
            <a:ext cx="2203704" cy="111556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Select and extract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679192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07A7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057400"/>
            <a:ext cx="2606040" cy="18288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2212848"/>
            <a:ext cx="22037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4  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715768"/>
            <a:ext cx="2203704" cy="111556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Find patterns through EDA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789920" cy="8229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42A38"/>
                </a:solidFill>
              </a:defRPr>
            </a:pPr>
            <a:r>
              <a:t>Data preparation is iterative. Insights from analysis or model testing can send the team back to earlier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1. Data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C5B68"/>
                </a:solidFill>
              </a:defRPr>
            </a:pPr>
            <a:r>
              <a:t>Identify, collect and label the data needed by the ML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490472"/>
            <a:ext cx="10149840" cy="108813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A38"/>
                </a:solidFill>
              </a:defRPr>
            </a:pPr>
            <a:r>
              <a:t>Identify relevant data types: numerical, categorical, images and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441448"/>
            <a:ext cx="10149840" cy="108813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A38"/>
                </a:solidFill>
              </a:defRPr>
            </a:pPr>
            <a:r>
              <a:t>Collect data from databases, APIs, real-time sensors and other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02152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392424"/>
            <a:ext cx="10149840" cy="108813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A38"/>
                </a:solidFill>
              </a:defRPr>
            </a:pPr>
            <a:r>
              <a:t>For supervised learning, label examples and verify label accuracy and consistency.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46320"/>
            <a:ext cx="10515600" cy="9144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47488"/>
            <a:ext cx="10149840" cy="4572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Example: Collect product photos and label them “damaged” or “not damaged”.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What Forms Can Acquired Data Take?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Numerical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75688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Age, salary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417320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572768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Categorical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075688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Product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417320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572768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2075688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Product photo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3" y="1417320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1572768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Tabular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2075688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CSV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1511" y="1417320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572768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075688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Customer 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630168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85615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Time series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288536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Daily sales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630168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785615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Sensor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4288536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Temperature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3630168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12664" y="3785615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Geospatial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4288536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GPS location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3" y="3630168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1" y="3785615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4288536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CCTV footage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11511" y="3630168"/>
            <a:ext cx="2148840" cy="193852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3785615"/>
            <a:ext cx="174650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Audio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288536"/>
            <a:ext cx="1746504" cy="12252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Speech clips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2. Data Preprocessing —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C5B68"/>
                </a:solidFill>
              </a:defRPr>
            </a:pPr>
            <a:r>
              <a:t>Improve completeness, accuracy, consistency and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90472"/>
            <a:ext cx="3566160" cy="356616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45919"/>
            <a:ext cx="316382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Remove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48839"/>
            <a:ext cx="3163824" cy="285292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Identify and address defective records, duplicates and outliers.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Example: Remove repeated customer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90472"/>
            <a:ext cx="3566160" cy="356616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645919"/>
            <a:ext cx="316382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Fill 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148839"/>
            <a:ext cx="3163824" cy="285292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Impute missing values using mean, median or mode, where appropriate.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Example: Fill a missing age using the median.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90472"/>
            <a:ext cx="3566160" cy="356616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19"/>
            <a:ext cx="316382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Protect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39"/>
            <a:ext cx="3163824" cy="285292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Anonymize or remove personal information to support privacy and regulatory compliance.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Example: Remove names and phone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2. Data Preprocessing — Transform &amp; 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35608"/>
            <a:ext cx="5440680" cy="169164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91056"/>
            <a:ext cx="503834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Transform / Scale / Normalize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93976"/>
            <a:ext cx="5038344" cy="97840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Make formats and feature ranges consistent. Example: standardize dates or scale numerical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435608"/>
            <a:ext cx="5440680" cy="169164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5" y="1591056"/>
            <a:ext cx="503834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Data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5" y="2093976"/>
            <a:ext cx="5038344" cy="97840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Increase useful training examples, e.g. rotate or flip images where valid for the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01568"/>
            <a:ext cx="5440680" cy="169164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557016"/>
            <a:ext cx="503834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Adversarial / Synthetic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59936"/>
            <a:ext cx="5038344" cy="97840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Use relevant adversarial examples for robustness and generate synthetic data when appropriate.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401568"/>
            <a:ext cx="5440680" cy="169164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3557016"/>
            <a:ext cx="503834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4059936"/>
            <a:ext cx="5038344" cy="97840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Select a subset of records to lower training time and computational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3.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C5B68"/>
                </a:solidFill>
              </a:defRPr>
            </a:pPr>
            <a:r>
              <a:t>Create a more useful representation of the available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5029200" cy="324612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28216"/>
            <a:ext cx="462686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Feature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31136"/>
            <a:ext cx="4626864" cy="2532887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Keep features that contribute to model performance.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Example: For a house-price model, area and location may be more useful than listing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72768"/>
            <a:ext cx="5029200" cy="324612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728216"/>
            <a:ext cx="4626864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231136"/>
            <a:ext cx="4626864" cy="2532887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Derive a smaller set of informative, non-redundant features from existing data.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Example: Derive monthly spending from transaction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84648"/>
            <a:ext cx="10424160" cy="6400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Goal: help the model learn relevant patterns while reducing unnecessary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548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C5B68"/>
                </a:solidFill>
              </a:defRPr>
            </a:pPr>
            <a:r>
              <a:t>Typically performed in parallel with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490472"/>
            <a:ext cx="10149840" cy="100583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A38"/>
                </a:solidFill>
              </a:defRPr>
            </a:pPr>
            <a:r>
              <a:t>Discover trends, patterns and anomalies in the collected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359152"/>
            <a:ext cx="10149840" cy="100583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A38"/>
                </a:solidFill>
              </a:defRPr>
            </a:pPr>
            <a:r>
              <a:t>Visualize distributions and relationships using plots and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227832"/>
            <a:ext cx="10149840" cy="100583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A38"/>
                </a:solidFill>
              </a:defRPr>
            </a:pPr>
            <a:r>
              <a:t>Use findings to identify quality issues and guide further preparation.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297680"/>
            <a:ext cx="3364992" cy="1572768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5230368"/>
            <a:ext cx="384048" cy="393192"/>
          </a:xfrm>
          <a:prstGeom prst="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4901184"/>
            <a:ext cx="384048" cy="722376"/>
          </a:xfrm>
          <a:prstGeom prst="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81160" y="4672584"/>
            <a:ext cx="384048" cy="950976"/>
          </a:xfrm>
          <a:prstGeom prst="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66960" y="5029200"/>
            <a:ext cx="384048" cy="594360"/>
          </a:xfrm>
          <a:prstGeom prst="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6126480" cy="9144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A38"/>
                </a:solidFill>
              </a:defRPr>
            </a:pPr>
            <a:r>
              <a:t>Example: Plot delivery times to spot unusually long delays.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Iterative Preparation &amp; Production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5413248" cy="34290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36776"/>
            <a:ext cx="5010912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Training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39696"/>
            <a:ext cx="5010912" cy="271576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Preparation often needs multiple rounds, and much of it may be manual.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Steps can be changed, skipped or reordered to fit the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81328"/>
            <a:ext cx="5413248" cy="3429000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36776"/>
            <a:ext cx="5010912" cy="38404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Operational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39696"/>
            <a:ext cx="5010912" cy="271576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Production data should resemble training data in distribution and feature ranges.</a:t>
            </a: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42A38"/>
                </a:solidFill>
              </a:defRPr>
            </a:pPr>
            <a:r>
              <a:t>Preparation may be optimized for speed and scalability.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321808"/>
            <a:ext cx="10744200" cy="685800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440680"/>
            <a:ext cx="10332720" cy="42062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2A38"/>
                </a:solidFill>
              </a:defRPr>
            </a:pPr>
            <a:r>
              <a:t>Risk: major training–production differences may reduce ML performance and invalidate safety assumptions.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Practical Example — Predicting House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10863072" cy="740664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17904"/>
            <a:ext cx="1645920" cy="43891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Acquire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490472"/>
            <a:ext cx="8549640" cy="5029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42A38"/>
                </a:solidFill>
              </a:defRPr>
            </a:pPr>
            <a:r>
              <a:t>Collect previous sales: area, rooms, location,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10863072" cy="740664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9736"/>
            <a:ext cx="1645920" cy="43891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32303"/>
            <a:ext cx="8549640" cy="5029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42A38"/>
                </a:solidFill>
              </a:defRPr>
            </a:pPr>
            <a:r>
              <a:t>Remove duplicates, handle missing area values and normalize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73552"/>
            <a:ext cx="10863072" cy="740664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1645920" cy="43891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42A38"/>
                </a:solidFill>
              </a:defRPr>
            </a:pPr>
            <a:r>
              <a:t>Choose useful predictors such as area, rooms and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15383"/>
            <a:ext cx="10863072" cy="740664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399"/>
            <a:ext cx="1645920" cy="43891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15968"/>
            <a:ext cx="8549640" cy="5029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42A38"/>
                </a:solidFill>
              </a:defRPr>
            </a:pPr>
            <a:r>
              <a:t>Plot price vs. area and investigate unusual properties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57216"/>
            <a:ext cx="10863072" cy="740664"/>
          </a:xfrm>
          <a:prstGeom prst="roundRect">
            <a:avLst/>
          </a:prstGeom>
          <a:solidFill>
            <a:srgbClr val="E3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1645920" cy="43891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7A78"/>
                </a:solidFill>
              </a:defRPr>
            </a:pPr>
            <a:r>
              <a:t>Operate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257800"/>
            <a:ext cx="8549640" cy="5029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42A38"/>
                </a:solidFill>
              </a:defRPr>
            </a:pPr>
            <a:r>
              <a:t>Check new property data uses compatible features and ranges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28016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A38"/>
                </a:solidFill>
              </a:defRPr>
            </a:pPr>
            <a:r>
              <a:t>Key Takeaways — ISTQB CT-AI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900"/>
              </a:spcAft>
              <a:defRPr sz="1100" b="0">
                <a:solidFill>
                  <a:srgbClr val="4C5B68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490472"/>
            <a:ext cx="10149840" cy="9326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A38"/>
                </a:solidFill>
              </a:defRPr>
            </a:pPr>
            <a:r>
              <a:t>Data acquisition: obtain appropriate data and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95728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286000"/>
            <a:ext cx="10149840" cy="9326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A38"/>
                </a:solidFill>
              </a:defRPr>
            </a:pPr>
            <a:r>
              <a:t>Data preprocessing: clean, transform, augment and sample.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91256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081528"/>
            <a:ext cx="10149840" cy="9326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A38"/>
                </a:solidFill>
              </a:defRPr>
            </a:pPr>
            <a:r>
              <a:t>Feature engineering: select or extract useful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86783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877055"/>
            <a:ext cx="10149840" cy="9326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A38"/>
                </a:solidFill>
              </a:defRPr>
            </a:pPr>
            <a:r>
              <a:t>EDA: discover trends, anomalies and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82312"/>
            <a:ext cx="118872" cy="118872"/>
          </a:xfrm>
          <a:prstGeom prst="roundRect">
            <a:avLst/>
          </a:prstGeom>
          <a:solidFill>
            <a:srgbClr val="00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672584"/>
            <a:ext cx="10149840" cy="9326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A38"/>
                </a:solidFill>
              </a:defRPr>
            </a:pPr>
            <a:r>
              <a:t>Preparation is iterative; production data should be consistent with training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