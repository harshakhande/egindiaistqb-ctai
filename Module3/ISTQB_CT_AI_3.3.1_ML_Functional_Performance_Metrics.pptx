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FF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" y="4297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3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704088" y="877824"/>
            <a:ext cx="80010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4088" y="1005840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Machine Learning (ML)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04088" y="16916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3.3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704088" y="2121408"/>
            <a:ext cx="80010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22585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 ML Functional Performance Metrics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04088" y="292608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Tutorial 3.3.1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704088" y="3364992"/>
            <a:ext cx="80010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35204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Calculation of ML Functional Performance Metrics</a:t>
            </a:r>
            <a:endParaRPr lang="en-US" sz="2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FF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Functional Performance Metrics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30352" y="941832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271016"/>
            <a:ext cx="108813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 classification, an ML model will rarely predict every result correctly.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2157984"/>
            <a:ext cx="108813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Predictions may be incorrect because of the probabilistic nature of ML models and data noise.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3044952"/>
            <a:ext cx="108813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 confusion matrix summarizes correct and incorrect predictions.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3931920"/>
            <a:ext cx="108813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Four outcomes are possible: TP, TN, FP and FN.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FF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Matrix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30352" y="941832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143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Binary classification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52344" y="1618488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Positive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687568" y="1618488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Negative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85216" y="2267712"/>
            <a:ext cx="1755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Positive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85216" y="3218688"/>
            <a:ext cx="1755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Negative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2487168" y="1984248"/>
            <a:ext cx="2926080" cy="832104"/>
          </a:xfrm>
          <a:prstGeom prst="rect">
            <a:avLst/>
          </a:prstGeom>
          <a:solidFill>
            <a:srgbClr val="B9DFC9"/>
          </a:solidFill>
          <a:ln w="11430">
            <a:solidFill>
              <a:srgbClr val="4F5A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87168" y="2093976"/>
            <a:ext cx="2926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87168" y="2450592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Positive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504688" y="1984248"/>
            <a:ext cx="2926080" cy="832104"/>
          </a:xfrm>
          <a:prstGeom prst="rect">
            <a:avLst/>
          </a:prstGeom>
          <a:solidFill>
            <a:srgbClr val="F4D6D3"/>
          </a:solidFill>
          <a:ln w="11430">
            <a:solidFill>
              <a:srgbClr val="4F5A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04688" y="2093976"/>
            <a:ext cx="2926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04688" y="2450592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2487168" y="2971800"/>
            <a:ext cx="2926080" cy="832104"/>
          </a:xfrm>
          <a:prstGeom prst="rect">
            <a:avLst/>
          </a:prstGeom>
          <a:solidFill>
            <a:srgbClr val="F4D6D3"/>
          </a:solidFill>
          <a:ln w="11430">
            <a:solidFill>
              <a:srgbClr val="4F5A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87168" y="3081528"/>
            <a:ext cx="2926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FN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487168" y="3438144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Negative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5504688" y="2971800"/>
            <a:ext cx="2926080" cy="832104"/>
          </a:xfrm>
          <a:prstGeom prst="rect">
            <a:avLst/>
          </a:prstGeom>
          <a:solidFill>
            <a:srgbClr val="B9DFC9"/>
          </a:solidFill>
          <a:ln w="11430">
            <a:solidFill>
              <a:srgbClr val="4F5A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04688" y="3081528"/>
            <a:ext cx="2926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504688" y="3438144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Negative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594360" y="4654296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and columns may be swapped, but the four outcomes remain the same.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FF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Matrix – Four Possible Outcomes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30352" y="941832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261872"/>
            <a:ext cx="108813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True Positive (TP) – Model predicts Positive, and actual class is Positive.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2167128"/>
            <a:ext cx="108813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True Negative (TN) – Model predicts Negative, and actual class is Negative.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3072384"/>
            <a:ext cx="108813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False Positive (FP) – Model predicts Positive, but actual class is Negative.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3977640"/>
            <a:ext cx="108813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False Negative (FN) – Model predicts Negative, but actual class is Positive.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FF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30352" y="941832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463040"/>
            <a:ext cx="10789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= (TP + TN) / (TP + TN + FP + FN) × 100%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2423160"/>
            <a:ext cx="10881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Measures the percentage of all classifications that are correct.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3127248"/>
            <a:ext cx="10881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Considers both correctly predicted positives and negatives.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3831336"/>
            <a:ext cx="10881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Example: TP = 40, TN = 50, FP = 5, FN = 5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4535424"/>
            <a:ext cx="10881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Accuracy = (40 + 50) / 100 × 100% = 90%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FF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30352" y="941832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463040"/>
            <a:ext cx="10789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= TP / (TP + FP) × 100%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2423160"/>
            <a:ext cx="10881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Measures the proportion of predicted positives that are correct.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3127248"/>
            <a:ext cx="10881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Indicates how sure we can be about positive predictions.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3831336"/>
            <a:ext cx="10881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Example: TP = 40 and FP = 5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4535424"/>
            <a:ext cx="10881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Precision = 40 / (40 + 5) × 100% = 88.89%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FF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(Sensitivity)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30352" y="941832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463040"/>
            <a:ext cx="10789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= TP / (TP + FN) × 100%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2423160"/>
            <a:ext cx="10881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Measures the proportion of actual positives correctly identified.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3127248"/>
            <a:ext cx="10881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Indicates how confidently we can avoid missing positive cases.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3831336"/>
            <a:ext cx="10881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Example: TP = 40 and FN = 5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4535424"/>
            <a:ext cx="10881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Recall = 40 / (40 + 5) × 100% = 88.89%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FF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30352" y="941832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353312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 = 2 × (Precision × Recall) / (Precision + Recall)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85800" y="2267712"/>
            <a:ext cx="10881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The harmonic mean of precision and recall.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2962656"/>
            <a:ext cx="10881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Ranges from 0 to 100 when precision and recall are percentages.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3657600"/>
            <a:ext cx="10881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 high F1-score indicates both high precision and high recall.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4352544"/>
            <a:ext cx="10881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 low F1-score indicates missed positives or many false alarms.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FF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 – All Four Metrics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30352" y="941832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matrix values: TP = 40, TN = 50, FP = 5, FN = 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1975104"/>
            <a:ext cx="108813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7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Accuracy = (40 + 50) / (40 + 50 + 5 + 5) × 100% = 90%</a:t>
            </a:r>
            <a:endParaRPr lang="en-US" sz="1970" dirty="0"/>
          </a:p>
        </p:txBody>
      </p:sp>
      <p:sp>
        <p:nvSpPr>
          <p:cNvPr id="6" name="Text 4"/>
          <p:cNvSpPr/>
          <p:nvPr/>
        </p:nvSpPr>
        <p:spPr>
          <a:xfrm>
            <a:off x="685800" y="2788920"/>
            <a:ext cx="108813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7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Precision = 40 / (40 + 5) × 100% = 88.89%</a:t>
            </a:r>
            <a:endParaRPr lang="en-US" sz="1970" dirty="0"/>
          </a:p>
        </p:txBody>
      </p:sp>
      <p:sp>
        <p:nvSpPr>
          <p:cNvPr id="7" name="Text 5"/>
          <p:cNvSpPr/>
          <p:nvPr/>
        </p:nvSpPr>
        <p:spPr>
          <a:xfrm>
            <a:off x="685800" y="3602736"/>
            <a:ext cx="108813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7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Recall = 40 / (40 + 5) × 100% = 88.89%</a:t>
            </a:r>
            <a:endParaRPr lang="en-US" sz="1970" dirty="0"/>
          </a:p>
        </p:txBody>
      </p:sp>
      <p:sp>
        <p:nvSpPr>
          <p:cNvPr id="8" name="Text 6"/>
          <p:cNvSpPr/>
          <p:nvPr/>
        </p:nvSpPr>
        <p:spPr>
          <a:xfrm>
            <a:off x="685800" y="4416552"/>
            <a:ext cx="108813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7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F1-score = 2 × (88.89 × 88.89) / (88.89 + 88.89) = 88.89</a:t>
            </a:r>
            <a:endParaRPr lang="en-US" sz="1970" dirty="0"/>
          </a:p>
        </p:txBody>
      </p:sp>
      <p:sp>
        <p:nvSpPr>
          <p:cNvPr id="9" name="Text 7"/>
          <p:cNvSpPr/>
          <p:nvPr/>
        </p:nvSpPr>
        <p:spPr>
          <a:xfrm>
            <a:off x="658368" y="562356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Calculate F1 using precision and recall on the same scale.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FF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28346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YOU!!!</a:t>
            </a:r>
            <a:endParaRPr lang="en-US" sz="3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Calculation of Machine Learning Functional Performance Metrics</dc:title>
  <dc:subject>ISTQB CT-AI 3.3.1</dc:subject>
  <dc:creator>OpenAI</dc:creator>
  <cp:lastModifiedBy>OpenAI</cp:lastModifiedBy>
  <cp:revision>1</cp:revision>
  <dcterms:created xsi:type="dcterms:W3CDTF">2026-10-14T05:21:37Z</dcterms:created>
  <dcterms:modified xsi:type="dcterms:W3CDTF">2026-10-14T05:21:37Z</dcterms:modified>
</cp:coreProperties>
</file>