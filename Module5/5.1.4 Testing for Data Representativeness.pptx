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5" r:id="rId2"/>
    <p:sldId id="285" r:id="rId3"/>
    <p:sldId id="276" r:id="rId4"/>
    <p:sldId id="284" r:id="rId5"/>
    <p:sldId id="283" r:id="rId6"/>
    <p:sldId id="282" r:id="rId7"/>
    <p:sldId id="281" r:id="rId8"/>
    <p:sldId id="280" r:id="rId9"/>
    <p:sldId id="279" r:id="rId10"/>
    <p:sldId id="278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AEFD-765E-87D0-7112-E167FE66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18A72-4328-C92A-9F2F-60F0FFA0B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7D22-F290-F285-74B6-5EB399B67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6232B-D53B-1120-C6ED-D5530F4AC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16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5669-3857-3B7D-1BDC-08F32B8A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8DA2D-2271-9E9B-11A6-B5AAA99A9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11254-C48E-2B15-35CD-CBCA6EAC6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343BB-FA69-9219-78E5-20E198637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59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0E7F-38DB-EEE0-77F6-1DA1A3F2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C53F4-D3C7-E992-D441-531E821CF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7DE3-32B7-7F5C-2DB5-F0E73565E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A8E8C-6642-1DD6-D969-3EEEACFFC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2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28F3-6BDB-E5F0-3AD9-CDE20A55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94D60-9904-C123-85B3-CE79E6E34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9CE17-03A0-4AD3-54E5-DFBCA397C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94F33-1CEF-A25A-D64B-AAA24B2951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62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A7BF-07DA-0677-EA89-1F304919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952C6-D180-3C64-3A01-E2DF327FD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E123D-FCAD-C9A3-2A53-1F399B2B2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80FCF-BF71-002E-DD95-B59014BE1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86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4293-C528-ACD0-A317-BC55464B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08FC9-68AC-34AB-09DA-DCF87D058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E0E7B-62BF-3B91-A53A-4365513D5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34C8C-8A60-6642-B76E-B0FE9484D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7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EF01-93C1-C039-1D29-EC77A65F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FBE56-ED21-50BA-F64C-03F5C82CB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8F1D1-A133-162D-6904-A6C7F5422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A668A-F91E-EA19-65D8-6C4749DA0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13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0398-6C78-EE88-6911-08907080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79A0A-EFC3-8469-6F17-4F2EC4101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ADA89-C59A-6082-50B8-D655E9CE6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788B9-EAEC-CE5B-DF9F-9B73DDC7A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53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55EC-42C6-592B-35B5-218B1B4B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4F474-05DF-14D8-04B2-593C1D02C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D58A0-0E1E-908D-D000-0AB69413D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27B7F-D98E-07B8-8501-52CB96153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59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F0C-A867-852E-C3B3-914AC2CA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CD012-C1E2-F83F-A079-111B50F7A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5F28F-25A4-E60B-A8CA-D7FD410B1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B4C27-16D3-5AB0-B1FC-B933A4303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47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A5E60-7275-B82A-F504-B301FD9C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30D56E-1C4C-E563-ED15-3C4CBA155959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16E6D8-D277-0F17-8616-A111257BDC04}"/>
              </a:ext>
            </a:extLst>
          </p:cNvPr>
          <p:cNvSpPr/>
          <p:nvPr/>
        </p:nvSpPr>
        <p:spPr>
          <a:xfrm>
            <a:off x="530352" y="587449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BEEA8-A57A-7BB1-7DA1-0920716F8F95}"/>
              </a:ext>
            </a:extLst>
          </p:cNvPr>
          <p:cNvSpPr txBox="1"/>
          <p:nvPr/>
        </p:nvSpPr>
        <p:spPr>
          <a:xfrm>
            <a:off x="530352" y="125784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0B776-E066-265C-9C2F-2ED392F7D7EB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69235-03AC-0B5C-F0D0-AC74F4078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469" y="781706"/>
            <a:ext cx="8719149" cy="563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2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107BC-E354-9791-D307-DC84582E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4E1472-2F4F-8019-47F9-65F9C7A11563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69CB76-FC2A-8B60-0C92-8B3F6A07AB2E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A4F5F1-21C4-670E-6276-B7933ABD524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916EB-4D54-1FF8-9526-658BF3B7521A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87242-EDE5-255F-9C14-B17908DF5B52}"/>
              </a:ext>
            </a:extLst>
          </p:cNvPr>
          <p:cNvSpPr txBox="1"/>
          <p:nvPr/>
        </p:nvSpPr>
        <p:spPr>
          <a:xfrm>
            <a:off x="692270" y="1507154"/>
            <a:ext cx="882266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5.1.4 Testing for Data Representativeness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Data representativeness testing determines how closely the characteristics of datasets used for training, validation, and testing Machine Learning (ML) models match the real-world data that the model will encounter during operation.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objective of this testing is to ensure that the datasets accurately represent the target population and real-world operating conditions.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Data representativeness testing helps identify issues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Skewed Datasets: Data that is biased toward certain groups or characteristics.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Missing Data: Important information or records that are absent from the dataset.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Disproportionate Feature Distributions: Certain feature values appearing too frequently or too rarely.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Inadequate Scenario Coverage: Insufficient representation of real-world situations, including unusual or boundary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Imbalanced Class Representation: Some classes having significantly more samples than others (see Section 5.1.1).</a:t>
            </a:r>
          </a:p>
        </p:txBody>
      </p:sp>
    </p:spTree>
    <p:extLst>
      <p:ext uri="{BB962C8B-B14F-4D97-AF65-F5344CB8AC3E}">
        <p14:creationId xmlns:p14="http://schemas.microsoft.com/office/powerpoint/2010/main" val="77731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99ED4-749C-56B3-407A-0B03FAD5E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A9DA70-B555-48B8-942E-D72E7AC95B2F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F3FDF1-38AE-D98E-E27C-8118CCE4FA2F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BF3E2-B881-CE07-FE8E-670689C42CBE}"/>
              </a:ext>
            </a:extLst>
          </p:cNvPr>
          <p:cNvSpPr txBox="1"/>
          <p:nvPr/>
        </p:nvSpPr>
        <p:spPr>
          <a:xfrm>
            <a:off x="530352" y="169271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E512F-8BA2-A2AC-C30E-C9960068D797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0FE9E-49A4-F029-F795-D832EA7D8B15}"/>
              </a:ext>
            </a:extLst>
          </p:cNvPr>
          <p:cNvSpPr txBox="1"/>
          <p:nvPr/>
        </p:nvSpPr>
        <p:spPr>
          <a:xfrm>
            <a:off x="623258" y="630936"/>
            <a:ext cx="940926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Steps Involved in Testing for Data Representativeness</a:t>
            </a:r>
          </a:p>
          <a:p>
            <a:pPr>
              <a:buNone/>
            </a:pPr>
            <a:endParaRPr lang="en-IN" sz="1400" b="1" dirty="0"/>
          </a:p>
          <a:p>
            <a:pPr marL="342900" indent="-342900">
              <a:buAutoNum type="arabicPeriod"/>
            </a:pPr>
            <a:r>
              <a:rPr lang="en-IN" sz="1400" b="1" dirty="0"/>
              <a:t>Define the Target Population</a:t>
            </a:r>
          </a:p>
          <a:p>
            <a:pPr marL="342900" indent="-342900">
              <a:buAutoNum type="arabicPeriod"/>
            </a:pPr>
            <a:endParaRPr lang="en-IN" sz="1400" b="1" dirty="0"/>
          </a:p>
          <a:p>
            <a:pPr>
              <a:buNone/>
            </a:pPr>
            <a:r>
              <a:rPr lang="en-IN" sz="1400" dirty="0"/>
              <a:t>The first step is to identify and understand the target population for which the Machine Learning System (MLS) is being developed.</a:t>
            </a:r>
          </a:p>
          <a:p>
            <a:pPr>
              <a:buNone/>
            </a:pPr>
            <a:r>
              <a:rPr lang="en-IN" sz="1400" dirty="0"/>
              <a:t>This involves understanding the intended use cases, operational environment, and characteristics of the users who will interact with the system.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The following activities are performed: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a. Understand the Operational Context</a:t>
            </a:r>
          </a:p>
          <a:p>
            <a:pPr>
              <a:buNone/>
            </a:pPr>
            <a:r>
              <a:rPr lang="en-IN" sz="1400" dirty="0"/>
              <a:t>Identify the intended use cases of the ML system and understand the environment in which it will operate.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b. </a:t>
            </a:r>
            <a:r>
              <a:rPr lang="en-IN" sz="1400" dirty="0" err="1"/>
              <a:t>Analyze</a:t>
            </a:r>
            <a:r>
              <a:rPr lang="en-IN" sz="1400" dirty="0"/>
              <a:t> End Users and Operational Environments</a:t>
            </a:r>
          </a:p>
          <a:p>
            <a:pPr>
              <a:buNone/>
            </a:pPr>
            <a:r>
              <a:rPr lang="en-IN" sz="1400" dirty="0"/>
              <a:t>Study the characteristics of the target users and the different operating conditions under which the ML model will be used.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c. Identify Expected Data Distributions and Edge Cases</a:t>
            </a:r>
          </a:p>
          <a:p>
            <a:pPr>
              <a:buNone/>
            </a:pPr>
            <a:r>
              <a:rPr lang="en-IN" sz="1400" dirty="0"/>
              <a:t>Determine the types of data that the system is expected to receive during real-world operation.</a:t>
            </a:r>
          </a:p>
          <a:p>
            <a:pPr>
              <a:buNone/>
            </a:pPr>
            <a:r>
              <a:rPr lang="en-IN" sz="1400" dirty="0"/>
              <a:t>This can be achieved by: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Consulting domain experts to understand real-world data patterns.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 err="1"/>
              <a:t>Analyzing</a:t>
            </a:r>
            <a:r>
              <a:rPr lang="en-IN" sz="1400" dirty="0"/>
              <a:t> data collected from existing systems or similar applications.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Using benchmark datasets from trusted sources, such as NIST and industry databases.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None/>
            </a:pPr>
            <a:r>
              <a:rPr lang="en-IN" sz="1400" dirty="0"/>
              <a:t>d. Apply Stratified Sampling</a:t>
            </a:r>
          </a:p>
          <a:p>
            <a:pPr>
              <a:buNone/>
            </a:pPr>
            <a:r>
              <a:rPr lang="en-IN" sz="1400" dirty="0"/>
              <a:t>Use stratified sampling on representative reference data to create a baseline dataset that includes all relevant subgroups of the target population.</a:t>
            </a:r>
          </a:p>
          <a:p>
            <a:pPr>
              <a:buNone/>
            </a:pPr>
            <a:r>
              <a:rPr lang="en-IN" sz="1400" dirty="0"/>
              <a:t>Stratified sampling helps ensure that important groups are adequately represented in the reference dataset.</a:t>
            </a:r>
          </a:p>
        </p:txBody>
      </p:sp>
    </p:spTree>
    <p:extLst>
      <p:ext uri="{BB962C8B-B14F-4D97-AF65-F5344CB8AC3E}">
        <p14:creationId xmlns:p14="http://schemas.microsoft.com/office/powerpoint/2010/main" val="178110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135FC-3D0F-D25E-5A0C-06E1FB06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E691FC-FD1D-A6E8-F67C-F54751812544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28641A-695F-C935-BE78-616B5F73A4D3}"/>
              </a:ext>
            </a:extLst>
          </p:cNvPr>
          <p:cNvSpPr/>
          <p:nvPr/>
        </p:nvSpPr>
        <p:spPr>
          <a:xfrm>
            <a:off x="530352" y="739825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57271-6988-D6A5-3281-BC4802080891}"/>
              </a:ext>
            </a:extLst>
          </p:cNvPr>
          <p:cNvSpPr txBox="1"/>
          <p:nvPr/>
        </p:nvSpPr>
        <p:spPr>
          <a:xfrm>
            <a:off x="530352" y="278160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352E4-0D34-48C2-A8C8-2322C1B6B8E7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9C37C-1C20-52B9-E365-F9199CB74E40}"/>
              </a:ext>
            </a:extLst>
          </p:cNvPr>
          <p:cNvSpPr txBox="1"/>
          <p:nvPr/>
        </p:nvSpPr>
        <p:spPr>
          <a:xfrm>
            <a:off x="551688" y="868680"/>
            <a:ext cx="960767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2. </a:t>
            </a:r>
            <a:r>
              <a:rPr lang="en-IN" sz="1400" b="1" dirty="0" err="1"/>
              <a:t>Analyze</a:t>
            </a:r>
            <a:r>
              <a:rPr lang="en-IN" sz="1400" b="1" dirty="0"/>
              <a:t> Data Characteristics</a:t>
            </a:r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IN" sz="1400" dirty="0"/>
              <a:t>The next step is to examine the characteristics of the datasets and compare them with the expected operational data.</a:t>
            </a:r>
          </a:p>
          <a:p>
            <a:pPr>
              <a:buNone/>
            </a:pPr>
            <a:r>
              <a:rPr lang="en-IN" sz="1400" dirty="0"/>
              <a:t>Exploratory Data Analysis (EDA) (see Section 3.2.1) is used to understand the structure, distribution, and relationships within the data.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The following activities are performed: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a. Perform EDA on Training and Test Datasets</a:t>
            </a:r>
          </a:p>
          <a:p>
            <a:pPr>
              <a:buNone/>
            </a:pPr>
            <a:r>
              <a:rPr lang="en-IN" sz="1400" dirty="0" err="1"/>
              <a:t>Analyze</a:t>
            </a:r>
            <a:r>
              <a:rPr lang="en-IN" sz="1400" dirty="0"/>
              <a:t> the datasets used for training and testing to understand their characteristics and identify possible representativeness issues.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b. </a:t>
            </a:r>
            <a:r>
              <a:rPr lang="en-IN" sz="1400" dirty="0" err="1"/>
              <a:t>Analyze</a:t>
            </a:r>
            <a:r>
              <a:rPr lang="en-IN" sz="1400" dirty="0"/>
              <a:t> the Reference Dataset</a:t>
            </a:r>
          </a:p>
          <a:p>
            <a:pPr>
              <a:buNone/>
            </a:pPr>
            <a:r>
              <a:rPr lang="en-IN" sz="1400" dirty="0"/>
              <a:t>Examine a reference dataset that represents the expected real-world operational data.</a:t>
            </a:r>
          </a:p>
          <a:p>
            <a:pPr>
              <a:buNone/>
            </a:pPr>
            <a:r>
              <a:rPr lang="en-IN" sz="1400" dirty="0"/>
              <a:t>This dataset serves as a baseline for comparing training, validation, and testing datasets.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c. Visualize Data Distributions</a:t>
            </a:r>
          </a:p>
          <a:p>
            <a:pPr>
              <a:buNone/>
            </a:pPr>
            <a:r>
              <a:rPr lang="en-IN" sz="1400" dirty="0"/>
              <a:t>Use graphical techniques such as histograms, scatter plots, and other visualization methods to understand how data values are distributed.</a:t>
            </a:r>
          </a:p>
          <a:p>
            <a:pPr>
              <a:buNone/>
            </a:pPr>
            <a:r>
              <a:rPr lang="en-IN" sz="1400" dirty="0"/>
              <a:t>These visualizations help identify differences between the ML datasets and the reference dataset.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d. Examine Feature Relationships and Correlations</a:t>
            </a:r>
          </a:p>
          <a:p>
            <a:pPr>
              <a:buNone/>
            </a:pPr>
            <a:r>
              <a:rPr lang="en-IN" sz="1400" dirty="0" err="1"/>
              <a:t>Analyze</a:t>
            </a:r>
            <a:r>
              <a:rPr lang="en-IN" sz="1400" dirty="0"/>
              <a:t> relationships between different features to identify important patterns and correlations.</a:t>
            </a:r>
          </a:p>
          <a:p>
            <a:pPr>
              <a:buNone/>
            </a:pPr>
            <a:r>
              <a:rPr lang="en-IN" sz="1400" dirty="0"/>
              <a:t>Verify that these relationships are appropriately preserved in the datasets used for model development.</a:t>
            </a:r>
          </a:p>
          <a:p>
            <a:pPr>
              <a:buNone/>
            </a:pPr>
            <a:r>
              <a:rPr lang="en-IN" sz="1400" dirty="0"/>
              <a:t>e. Identify Anomalies and Data Gaps</a:t>
            </a:r>
          </a:p>
          <a:p>
            <a:pPr>
              <a:buNone/>
            </a:pPr>
            <a:r>
              <a:rPr lang="en-IN" sz="1400" dirty="0"/>
              <a:t>Identify missing information, unusual data concentrations, unexpected patterns, and underrepresented groups that may affect the model's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1509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9059E-5270-269A-41E1-F8268413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660A54-64AD-7A42-2F6F-BA9C98F8109A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29A1DE-289F-12B9-DFA4-95F82DAB3709}"/>
              </a:ext>
            </a:extLst>
          </p:cNvPr>
          <p:cNvSpPr/>
          <p:nvPr/>
        </p:nvSpPr>
        <p:spPr>
          <a:xfrm>
            <a:off x="530352" y="717545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CDA8A-F073-79B8-ED1C-8B676FAAB5EE}"/>
              </a:ext>
            </a:extLst>
          </p:cNvPr>
          <p:cNvSpPr txBox="1"/>
          <p:nvPr/>
        </p:nvSpPr>
        <p:spPr>
          <a:xfrm>
            <a:off x="530352" y="169271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8D02F-2FF7-28BC-679D-9714868F51D6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B2DB7-DFFF-CAAD-92EB-50D202DDADFC}"/>
              </a:ext>
            </a:extLst>
          </p:cNvPr>
          <p:cNvSpPr txBox="1"/>
          <p:nvPr/>
        </p:nvSpPr>
        <p:spPr>
          <a:xfrm>
            <a:off x="530352" y="804155"/>
            <a:ext cx="102354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3. Apply Statistical Assessment Techniques</a:t>
            </a:r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IN" sz="1400" dirty="0"/>
              <a:t>Statistical assessment techniques are used to determine whether the training, validation, and testing datasets adequately represent the expected operational data.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The following techniques can be applied: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a. Chi-Squared Test</a:t>
            </a:r>
          </a:p>
          <a:p>
            <a:pPr>
              <a:buNone/>
            </a:pPr>
            <a:r>
              <a:rPr lang="en-IN" sz="1400" dirty="0"/>
              <a:t>The Chi-squared test is used to compare distributions of categorical data.</a:t>
            </a:r>
          </a:p>
          <a:p>
            <a:pPr>
              <a:buNone/>
            </a:pPr>
            <a:r>
              <a:rPr lang="en-IN" sz="1400" dirty="0"/>
              <a:t>For example, it can help determine whether the proportions of different customer categories in the training dataset differ significantly from those in the operational reference dataset.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b. Kolmogorov-Smirnov (KS) Test</a:t>
            </a:r>
          </a:p>
          <a:p>
            <a:pPr>
              <a:buNone/>
            </a:pPr>
            <a:r>
              <a:rPr lang="en-IN" sz="1400" dirty="0"/>
              <a:t>The Kolmogorov-Smirnov test is used to compare numerical data distributions.</a:t>
            </a:r>
          </a:p>
          <a:p>
            <a:pPr>
              <a:buNone/>
            </a:pPr>
            <a:r>
              <a:rPr lang="en-IN" sz="1400" dirty="0"/>
              <a:t>For example, it can help identify whether the age distribution in the training dataset differs from the age distribution expected in the real-world operational environment.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c. Check for Data Imbalance</a:t>
            </a:r>
          </a:p>
          <a:p>
            <a:pPr>
              <a:buNone/>
            </a:pPr>
            <a:r>
              <a:rPr lang="en-IN" sz="1400" dirty="0" err="1"/>
              <a:t>Analyze</a:t>
            </a:r>
            <a:r>
              <a:rPr lang="en-IN" sz="1400" dirty="0"/>
              <a:t> datasets to identify imbalances, particularly in classification problems.</a:t>
            </a:r>
          </a:p>
          <a:p>
            <a:pPr>
              <a:buNone/>
            </a:pPr>
            <a:r>
              <a:rPr lang="en-IN" sz="1400" dirty="0"/>
              <a:t>Verify whether important classes are adequately represented so that the model can learn patterns across different categories.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d. Verify Scenario and Boundary Coverage</a:t>
            </a:r>
          </a:p>
          <a:p>
            <a:pPr>
              <a:buNone/>
            </a:pPr>
            <a:r>
              <a:rPr lang="en-IN" sz="1400" dirty="0"/>
              <a:t>Ensure that the dataset contains sufficient examples of both common operational scenarios and critical edge or boundary cases.</a:t>
            </a:r>
          </a:p>
          <a:p>
            <a:pPr>
              <a:buNone/>
            </a:pPr>
            <a:r>
              <a:rPr lang="en-IN" sz="1400" dirty="0"/>
              <a:t>This helps evaluate whether the ML model can perform reliably under different real-world conditions.</a:t>
            </a:r>
          </a:p>
        </p:txBody>
      </p:sp>
    </p:spTree>
    <p:extLst>
      <p:ext uri="{BB962C8B-B14F-4D97-AF65-F5344CB8AC3E}">
        <p14:creationId xmlns:p14="http://schemas.microsoft.com/office/powerpoint/2010/main" val="263210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A13B7-B6D9-1FE7-7EAC-882FD72E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F394C5-5DFF-BF85-A9BC-AB4FB9C61C4C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EC619C-0AA1-6CC6-7489-0E327741DAB5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0E1FC-152E-D41F-6933-C0CDC720D769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A73D1-33DE-262D-0C2C-DA95FC567A70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34E25-94C3-DE5F-2A7A-A37121FCFC60}"/>
              </a:ext>
            </a:extLst>
          </p:cNvPr>
          <p:cNvSpPr txBox="1"/>
          <p:nvPr/>
        </p:nvSpPr>
        <p:spPr>
          <a:xfrm>
            <a:off x="429164" y="1027124"/>
            <a:ext cx="99699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5. Continuous Monitoring After Deployment</a:t>
            </a:r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dirty="0"/>
              <a:t>Data representativeness testing should continue after the ML model is deployed into production.</a:t>
            </a:r>
          </a:p>
          <a:p>
            <a:pPr>
              <a:buNone/>
            </a:pPr>
            <a:r>
              <a:rPr lang="en-IN" sz="1600" dirty="0"/>
              <a:t>The characteristics of incoming operational data should be continuously monitored to identify changes in data distributions.</a:t>
            </a:r>
          </a:p>
          <a:p>
            <a:pPr>
              <a:buNone/>
            </a:pPr>
            <a:r>
              <a:rPr lang="en-IN" sz="1600" dirty="0"/>
              <a:t>These changes may indicate data drift, where real-world input data begins to differ from the data originally used to train the model.</a:t>
            </a:r>
          </a:p>
          <a:p>
            <a:pPr>
              <a:buNone/>
            </a:pPr>
            <a:r>
              <a:rPr lang="en-IN" sz="1600" dirty="0"/>
              <a:t>Data drift testing is discussed in Section 6.1.7.</a:t>
            </a:r>
          </a:p>
        </p:txBody>
      </p:sp>
    </p:spTree>
    <p:extLst>
      <p:ext uri="{BB962C8B-B14F-4D97-AF65-F5344CB8AC3E}">
        <p14:creationId xmlns:p14="http://schemas.microsoft.com/office/powerpoint/2010/main" val="3079438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C192D-AF39-F9BF-1479-4C2F9E25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49F22B-A496-4F89-FAB6-0B69300E51F8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5F834C-89F2-BA82-63D9-A903CD007CC7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34AB4-4784-F12F-D727-FC84535714E1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D0222-47C0-974F-91EE-CE2B6176F093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B29B1-82A2-91C2-D1A5-4E45B9773194}"/>
              </a:ext>
            </a:extLst>
          </p:cNvPr>
          <p:cNvSpPr txBox="1"/>
          <p:nvPr/>
        </p:nvSpPr>
        <p:spPr>
          <a:xfrm>
            <a:off x="530352" y="1142351"/>
            <a:ext cx="6094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Summary of Data Representativeness Testing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D4A5D0-0E94-144E-7BDC-49EDC32C7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808928"/>
              </p:ext>
            </p:extLst>
          </p:nvPr>
        </p:nvGraphicFramePr>
        <p:xfrm>
          <a:off x="1004273" y="1819459"/>
          <a:ext cx="9701108" cy="3735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0554">
                  <a:extLst>
                    <a:ext uri="{9D8B030D-6E8A-4147-A177-3AD203B41FA5}">
                      <a16:colId xmlns:a16="http://schemas.microsoft.com/office/drawing/2014/main" val="1790917910"/>
                    </a:ext>
                  </a:extLst>
                </a:gridCol>
                <a:gridCol w="4850554">
                  <a:extLst>
                    <a:ext uri="{9D8B030D-6E8A-4147-A177-3AD203B41FA5}">
                      <a16:colId xmlns:a16="http://schemas.microsoft.com/office/drawing/2014/main" val="844959347"/>
                    </a:ext>
                  </a:extLst>
                </a:gridCol>
              </a:tblGrid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Step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Purpose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102935279"/>
                  </a:ext>
                </a:extLst>
              </a:tr>
              <a:tr h="431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Define Target Population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Identify the intended users, operating conditions, and expected data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570615492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Apply Stratified Sampling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Ensure relevant subgroups are represented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33670872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 EDA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Analyze and visualize dataset characteristics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82438685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Examine Feature Correlations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Verify relationships between features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87755357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Identify Anomalies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Detect missing data, unusual patterns, and gaps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92712875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Apply Statistical Tests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Compare dataset distributions statistically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57336478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Check Data Imbalance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Verify adequate representation of different classes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771514702"/>
                  </a:ext>
                </a:extLst>
              </a:tr>
              <a:tr h="24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Verify Scenario Coverage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Ensure typical and edge cases are represented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60411932"/>
                  </a:ext>
                </a:extLst>
              </a:tr>
              <a:tr h="431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Before Training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Prevent models from learning from unrepresentative datasets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28054922"/>
                  </a:ext>
                </a:extLst>
              </a:tr>
              <a:tr h="431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Monitor After Deployment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Detect changes in operational data and potential data drift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55528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70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3E9AF-49C7-B3A1-C610-81A59229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5129AB-2A89-7D4C-8812-CDF02E82D1A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8A51D7-6410-C6EB-CE24-A0ED3E878120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A9A9F-1077-8E47-CC06-B0314F4BA35A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27829-3BE0-014A-6407-46E8F1FDBBB5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0F3F4-8A33-1ED8-A1C0-7D23A40B94D6}"/>
              </a:ext>
            </a:extLst>
          </p:cNvPr>
          <p:cNvSpPr txBox="1"/>
          <p:nvPr/>
        </p:nvSpPr>
        <p:spPr>
          <a:xfrm>
            <a:off x="787159" y="1296239"/>
            <a:ext cx="84603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Simple Example: Loan Approval ML System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Suppose a bank develops a Machine Learning model to approve or reject loan applications.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training dataset contains the following age distribution: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Training data vs. expected operational data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Illustrative example of mismatched age-group proportions in training versus operational data.</a:t>
            </a:r>
          </a:p>
        </p:txBody>
      </p:sp>
    </p:spTree>
    <p:extLst>
      <p:ext uri="{BB962C8B-B14F-4D97-AF65-F5344CB8AC3E}">
        <p14:creationId xmlns:p14="http://schemas.microsoft.com/office/powerpoint/2010/main" val="105417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35A48-AAA1-3FA3-4E8F-61252670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9A26A1-F3C6-CD42-866B-84522D3D2FC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6BD155-C1A4-120A-CAF9-B5C90632E2E5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E3FF2E-DCAF-A06C-F233-230DD09DB709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C1432-9334-59DC-F726-38F6EC7C1A33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F83F1-0E83-481F-B755-ADDEB2F16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205" y="1558829"/>
            <a:ext cx="7569589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52CB8-7148-169E-748C-D115323B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3F0E56-4934-AD3D-A22D-A91BCA455CED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3011C7-3DBB-9115-49F5-2871258C6A16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2463B-B7E6-88AC-EC51-8809815B2F06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5.1.4 Testing for Data Representativeness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440F2-C1EF-A880-CE5A-A514265875C9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C27BF-31B5-CF66-5531-C485C89334BF}"/>
              </a:ext>
            </a:extLst>
          </p:cNvPr>
          <p:cNvSpPr txBox="1"/>
          <p:nvPr/>
        </p:nvSpPr>
        <p:spPr>
          <a:xfrm>
            <a:off x="994194" y="1443841"/>
            <a:ext cx="89348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 this example, the training dataset contains 70% applicants aged 18–30, whereas this group represents only 35% of the expected operational population.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indicates that the training dataset is not adequately representative of real-world applicants.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Testing approach: Use EDA to compare age distributions, apply appropriate statistical tests, and improve the dataset using representative sampling or additional data collection.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Key Takeaway: Data representativeness testing ensures that training, validation, and testing datasets accurately reflect real-world operational data. It helps identify skewed distributions, missing information, class imbalances, and insufficient scenario coverage before model training, while continuous monitoring helps detect data drift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38155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1196</Words>
  <Application>Microsoft Office PowerPoint</Application>
  <PresentationFormat>Widescreen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Anurag Patil</cp:lastModifiedBy>
  <cp:revision>29</cp:revision>
  <dcterms:created xsi:type="dcterms:W3CDTF">2026-10-14T05:21:37Z</dcterms:created>
  <dcterms:modified xsi:type="dcterms:W3CDTF">2026-10-19T05:53:25Z</dcterms:modified>
</cp:coreProperties>
</file>