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4297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04088" y="877824"/>
            <a:ext cx="80010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100584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Machine Learning (ML)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04088" y="1691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3.2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04088" y="2121408"/>
            <a:ext cx="80010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2585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Data Preparation and Datasets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04088" y="29260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3.2.3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04088" y="3364992"/>
            <a:ext cx="80010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3520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Validation, and Test Datasets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Validation, and Test Datasets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30352" y="923544"/>
            <a:ext cx="923544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1247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equivalent, representative datasets are logically required: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94944" y="1755648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Training dataset – Used to train the ML model.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94944" y="2441448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Validation dataset – Used to evaluate and tune the model.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94944" y="3127248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Test dataset (holdout) – Used to test the tuned model.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94944" y="3904488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 sets may be randomly selected from one representative dataset.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Validation, and Test Datasets Cont.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30352" y="923544"/>
            <a:ext cx="923544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1887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data is needed depends on: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94944" y="1810512"/>
            <a:ext cx="10652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Expected complexity of the ML model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94944" y="2432304"/>
            <a:ext cx="10652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Algorithm used to train the model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94944" y="3054096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Available resources – RAM, disk space, computing power,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78992" y="3474720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network bandwidth, and time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94944" y="4151376"/>
            <a:ext cx="10652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Desired confidence in the resulting model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Validation, and Test Datasets Cont.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30352" y="923544"/>
            <a:ext cx="923544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179576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available data is limited: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94944" y="1783080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 three-way split may leave too little data for training.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94944" y="2441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This increases the risk of underfitting.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94944" y="3099816"/>
            <a:ext cx="10652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If feasible, set aside a small final holdout test dataset.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94944" y="3813048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 the remaining training + validation data for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78992" y="423367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k-fold cross-validation (commonly 5 or 10 folds).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k-Fold Cross-Validation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30352" y="923544"/>
            <a:ext cx="923544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1252728"/>
            <a:ext cx="10652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Divide the training + validation data into k folds.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694944" y="1874520"/>
            <a:ext cx="10652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Train the model on k − 1 folds.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94944" y="2496312"/>
            <a:ext cx="10652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Validate on the remaining (held-out) fold.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694944" y="3118104"/>
            <a:ext cx="10652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Repeat k times, using each fold for validation once.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694944" y="3831336"/>
            <a:ext cx="10652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Random assignment is common; stratified sampling helps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078992" y="4261104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preserve class proportions, especially for small or imbalanced data.</a:t>
            </a:r>
            <a:endParaRPr lang="en-US" sz="2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k-Fold Cross-Validation Cont.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30352" y="923544"/>
            <a:ext cx="923544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143000"/>
            <a:ext cx="10058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5-fold cross-validation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21792" y="18288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965960" y="1755648"/>
            <a:ext cx="1581912" cy="457200"/>
          </a:xfrm>
          <a:prstGeom prst="rect">
            <a:avLst/>
          </a:prstGeom>
          <a:solidFill>
            <a:srgbClr val="B9DA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29968" y="185623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639312" y="1755648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85623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312664" y="1755648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76672" y="185623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86016" y="1755648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50024" y="185623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659368" y="1755648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23376" y="185623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21792" y="245973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965960" y="2386584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9968" y="248716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3639312" y="2386584"/>
            <a:ext cx="1581912" cy="457200"/>
          </a:xfrm>
          <a:prstGeom prst="rect">
            <a:avLst/>
          </a:prstGeom>
          <a:solidFill>
            <a:srgbClr val="B9DA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248716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312664" y="2386584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76672" y="248716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986016" y="2386584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0024" y="248716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659368" y="2386584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23376" y="248716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21792" y="309067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965960" y="3017520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29968" y="311810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3639312" y="3017520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311810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5312664" y="3017520"/>
            <a:ext cx="1581912" cy="457200"/>
          </a:xfrm>
          <a:prstGeom prst="rect">
            <a:avLst/>
          </a:prstGeom>
          <a:solidFill>
            <a:srgbClr val="B9DA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76672" y="311810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6986016" y="3017520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0024" y="311810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8659368" y="3017520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23376" y="311810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21792" y="372160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4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965960" y="3648456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9968" y="374904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3639312" y="3648456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03320" y="374904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5312664" y="3648456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374904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45" name="Shape 43"/>
          <p:cNvSpPr/>
          <p:nvPr/>
        </p:nvSpPr>
        <p:spPr>
          <a:xfrm>
            <a:off x="6986016" y="3648456"/>
            <a:ext cx="1581912" cy="457200"/>
          </a:xfrm>
          <a:prstGeom prst="rect">
            <a:avLst/>
          </a:prstGeom>
          <a:solidFill>
            <a:srgbClr val="B9DA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50024" y="374904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550" dirty="0"/>
          </a:p>
        </p:txBody>
      </p:sp>
      <p:sp>
        <p:nvSpPr>
          <p:cNvPr id="47" name="Shape 45"/>
          <p:cNvSpPr/>
          <p:nvPr/>
        </p:nvSpPr>
        <p:spPr>
          <a:xfrm>
            <a:off x="8659368" y="3648456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23376" y="374904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621792" y="435254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5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965960" y="4279392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29968" y="437997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52" name="Shape 50"/>
          <p:cNvSpPr/>
          <p:nvPr/>
        </p:nvSpPr>
        <p:spPr>
          <a:xfrm>
            <a:off x="3639312" y="4279392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03320" y="437997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54" name="Shape 52"/>
          <p:cNvSpPr/>
          <p:nvPr/>
        </p:nvSpPr>
        <p:spPr>
          <a:xfrm>
            <a:off x="5312664" y="4279392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76672" y="437997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56" name="Shape 54"/>
          <p:cNvSpPr/>
          <p:nvPr/>
        </p:nvSpPr>
        <p:spPr>
          <a:xfrm>
            <a:off x="6986016" y="4279392"/>
            <a:ext cx="1581912" cy="457200"/>
          </a:xfrm>
          <a:prstGeom prst="rect">
            <a:avLst/>
          </a:prstGeom>
          <a:solidFill>
            <a:srgbClr val="EBF2EB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0024" y="437997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50" dirty="0"/>
          </a:p>
        </p:txBody>
      </p:sp>
      <p:sp>
        <p:nvSpPr>
          <p:cNvPr id="58" name="Shape 56"/>
          <p:cNvSpPr/>
          <p:nvPr/>
        </p:nvSpPr>
        <p:spPr>
          <a:xfrm>
            <a:off x="8659368" y="4279392"/>
            <a:ext cx="1581912" cy="457200"/>
          </a:xfrm>
          <a:prstGeom prst="rect">
            <a:avLst/>
          </a:prstGeom>
          <a:solidFill>
            <a:srgbClr val="B9DA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23376" y="437997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550" dirty="0"/>
          </a:p>
        </p:txBody>
      </p:sp>
      <p:sp>
        <p:nvSpPr>
          <p:cNvPr id="60" name="Text 58"/>
          <p:cNvSpPr/>
          <p:nvPr/>
        </p:nvSpPr>
        <p:spPr>
          <a:xfrm>
            <a:off x="621792" y="520293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fold serves as the validation dataset exactly once.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and Final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30352" y="923544"/>
            <a:ext cx="923544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1188720"/>
            <a:ext cx="10652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Calculate validation metrics for each fold (e.g., accuracy, F1-score).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94944" y="1984248"/>
            <a:ext cx="10652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Average the metrics to estimate generalization performance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8992" y="2414016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more reliably and tune hyperparameters.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4944" y="3191256"/>
            <a:ext cx="10652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Select the optimal hyperparameters.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4944" y="3813048"/>
            <a:ext cx="10652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Retrain the final model on the full training + validation pool.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4944" y="45720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Evaluate it once on the untouched holdout test set.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Consideration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30352" y="923544"/>
            <a:ext cx="923544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1280160"/>
            <a:ext cx="10652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 final holdout test set provides a final, unbiased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078992" y="1709928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performance assessment of the tuned model.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94944" y="2514600"/>
            <a:ext cx="10652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If there is extremely little data, a holdout test set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" y="2944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may not be feasible.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694944" y="3721608"/>
            <a:ext cx="10652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 that case, the average cross-validation performance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078992" y="4151376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can be optimistically biased.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94944" y="4928616"/>
            <a:ext cx="10652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It should not be presented as an unbiased test estimate.</a:t>
            </a:r>
            <a:endParaRPr lang="en-US" sz="2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FF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YOU!!!</a:t>
            </a:r>
            <a:endParaRPr lang="en-US" sz="3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Training, Validation, and Test Datasets</dc:title>
  <dc:subject>ISTQB CT-AI 3.2.3</dc:subject>
  <dc:creator>OpenAI</dc:creator>
  <cp:lastModifiedBy>OpenAI</cp:lastModifiedBy>
  <cp:revision>1</cp:revision>
  <dcterms:created xsi:type="dcterms:W3CDTF">2026-10-14T05:11:42Z</dcterms:created>
  <dcterms:modified xsi:type="dcterms:W3CDTF">2026-10-14T05:11:42Z</dcterms:modified>
</cp:coreProperties>
</file>