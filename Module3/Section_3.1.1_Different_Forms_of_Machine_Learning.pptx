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70" r:id="rId6"/>
    <p:sldId id="268" r:id="rId7"/>
    <p:sldId id="258" r:id="rId8"/>
    <p:sldId id="269" r:id="rId9"/>
    <p:sldId id="259" r:id="rId10"/>
    <p:sldId id="271" r:id="rId11"/>
    <p:sldId id="260" r:id="rId12"/>
    <p:sldId id="261" r:id="rId13"/>
    <p:sldId id="272" r:id="rId14"/>
    <p:sldId id="262" r:id="rId15"/>
    <p:sldId id="273" r:id="rId16"/>
    <p:sldId id="274" r:id="rId17"/>
    <p:sldId id="263" r:id="rId18"/>
    <p:sldId id="275" r:id="rId19"/>
    <p:sldId id="276" r:id="rId20"/>
    <p:sldId id="264" r:id="rId21"/>
    <p:sldId id="26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3.1.1 Different Forms of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0">
                <a:solidFill>
                  <a:srgbClr val="161E1D"/>
                </a:solidFill>
                <a:latin typeface="Aptos"/>
              </a:rPr>
              <a:t>•  Machine learning (ML) algorithms are categorized into three main approaches: supervised learning, unsupervised learning, and reinforcement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05456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0">
                <a:solidFill>
                  <a:srgbClr val="161E1D"/>
                </a:solidFill>
                <a:latin typeface="Aptos"/>
              </a:rPr>
              <a:t>•  Each approach solves different kinds of problems. The choice depends on the available data and the specific task.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>
                <a:solidFill>
                  <a:srgbClr val="161E1D"/>
                </a:solidFill>
                <a:latin typeface="Aptos"/>
              </a:rPr>
              <a:t>•  In supervised learning, algorithms train models using labeled data: each set of inputs has a corresponding output label.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424" y="2258568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dirty="0">
                <a:solidFill>
                  <a:srgbClr val="161E1D"/>
                </a:solidFill>
                <a:latin typeface="Aptos"/>
              </a:rPr>
              <a:t>•  For example, training images can be labeled “dog” or “cat”.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424" y="2967228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dirty="0">
                <a:solidFill>
                  <a:srgbClr val="161E1D"/>
                </a:solidFill>
                <a:latin typeface="Aptos"/>
              </a:rPr>
              <a:t>•  The model learns to map inputs to outputs by identifying patterns in the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424" y="3794760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dirty="0">
                <a:solidFill>
                  <a:srgbClr val="161E1D"/>
                </a:solidFill>
                <a:latin typeface="Aptos"/>
              </a:rPr>
              <a:t>•  Supervised learning is typically divided into classification and ML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7048E-611A-6B6C-B256-8214C989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4C2AD-E23C-B8AD-F8D9-21C6CD383F32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Supervised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35C54-62FF-462F-81F3-CB1AD285B61A}"/>
              </a:ext>
            </a:extLst>
          </p:cNvPr>
          <p:cNvSpPr txBox="1"/>
          <p:nvPr/>
        </p:nvSpPr>
        <p:spPr>
          <a:xfrm>
            <a:off x="560832" y="1065276"/>
            <a:ext cx="10716768" cy="29608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Labeled</a:t>
            </a:r>
            <a:r>
              <a:rPr lang="en-IN" sz="2400" dirty="0"/>
              <a:t> data means we provide both the input and the correct answer during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For example, we show an AI model 1,000 pictures of cats and dogs and tell it which pictures contain cats and which contain dogs.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model learns patterns and then tries to identify new pictures on its own.</a:t>
            </a:r>
          </a:p>
          <a:p>
            <a:pPr algn="l"/>
            <a:endParaRPr sz="2200" b="0" dirty="0">
              <a:solidFill>
                <a:srgbClr val="161E1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7359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8A8A7-221B-1187-91A6-FC928D01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EFF2F6-C5E5-DCDD-EC69-2CC206EC4748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Supervised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A1791-2386-FCEF-6618-4B71ADE06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17" y="900684"/>
            <a:ext cx="7721997" cy="3600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86CF07-C145-B9F2-D7C5-FE3C89225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193" y="4708303"/>
            <a:ext cx="4864350" cy="1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07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3FD55-307A-2D2F-4C32-8967238C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3FF55D-AC7B-FF79-D76C-1402244448BB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Supervised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00F1B-80B5-29BF-7A47-52673F40227E}"/>
              </a:ext>
            </a:extLst>
          </p:cNvPr>
          <p:cNvSpPr txBox="1"/>
          <p:nvPr/>
        </p:nvSpPr>
        <p:spPr>
          <a:xfrm>
            <a:off x="560832" y="90347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 : Medical Diagnosis (Classification)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433C15-5BD9-8784-D271-E228CBFA9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47122"/>
            <a:ext cx="7324343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1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D6301-7C2D-EFBF-78C2-22314762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7ED3D3-CD3D-D8F8-C189-BA9C4EA9E63D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Supervised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1CCA8-9C69-75D8-4F94-203A7652A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13" y="4013359"/>
            <a:ext cx="4864350" cy="18479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3DAD7-D7A6-365C-A7E8-C697B4293CCE}"/>
              </a:ext>
            </a:extLst>
          </p:cNvPr>
          <p:cNvSpPr txBox="1"/>
          <p:nvPr/>
        </p:nvSpPr>
        <p:spPr>
          <a:xfrm>
            <a:off x="633222" y="1088136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Simple steps:</a:t>
            </a:r>
          </a:p>
          <a:p>
            <a:pPr>
              <a:buNone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Provide </a:t>
            </a:r>
            <a:r>
              <a:rPr lang="en-IN" dirty="0" err="1"/>
              <a:t>labeled</a:t>
            </a:r>
            <a:r>
              <a:rPr lang="en-IN" dirty="0"/>
              <a:t> training data.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model learns relationships between inputs and correct outputs.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Give the model new, unseen data.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model predicts an answer based on what it learned.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Evaluate the prediction against the correct answer.</a:t>
            </a:r>
          </a:p>
        </p:txBody>
      </p:sp>
    </p:spTree>
    <p:extLst>
      <p:ext uri="{BB962C8B-B14F-4D97-AF65-F5344CB8AC3E}">
        <p14:creationId xmlns:p14="http://schemas.microsoft.com/office/powerpoint/2010/main" val="145043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>
                <a:solidFill>
                  <a:srgbClr val="161E1D"/>
                </a:solidFill>
                <a:latin typeface="Aptos"/>
              </a:rPr>
              <a:t>Supervised Learning —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72026"/>
            <a:ext cx="10716768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dirty="0">
                <a:solidFill>
                  <a:srgbClr val="161E1D"/>
                </a:solidFill>
                <a:latin typeface="Aptos"/>
              </a:rPr>
              <a:t>•  Classification assigns inputs to predefined classes or categories.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469945"/>
            <a:ext cx="10716768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dirty="0">
                <a:solidFill>
                  <a:srgbClr val="161E1D"/>
                </a:solidFill>
                <a:latin typeface="Aptos"/>
              </a:rPr>
              <a:t>•  Example: classifying emails as spam or not spam.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967864"/>
            <a:ext cx="10716768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dirty="0">
                <a:solidFill>
                  <a:srgbClr val="161E1D"/>
                </a:solidFill>
                <a:latin typeface="Aptos"/>
              </a:rPr>
              <a:t>•  Another example: recognizing classes of objects in images.</a:t>
            </a:r>
          </a:p>
        </p:txBody>
      </p:sp>
      <p:pic>
        <p:nvPicPr>
          <p:cNvPr id="6" name="Picture 5" descr="Linear Two-Class Classification | EE499">
            <a:extLst>
              <a:ext uri="{FF2B5EF4-FFF2-40B4-BE49-F238E27FC236}">
                <a16:creationId xmlns:a16="http://schemas.microsoft.com/office/drawing/2014/main" id="{EEB1CA41-DBBC-7759-FACF-A0ECE20F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0" y="2465783"/>
            <a:ext cx="3927871" cy="392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25A804-EAAF-D9D9-4AFD-8C6D731B9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254" y="2838961"/>
            <a:ext cx="5086611" cy="3181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40709-5D4A-D94D-9704-1EB6DEBB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39489-CF75-FC3E-5D4F-34223D5EE6CA}"/>
              </a:ext>
            </a:extLst>
          </p:cNvPr>
          <p:cNvSpPr txBox="1"/>
          <p:nvPr/>
        </p:nvSpPr>
        <p:spPr>
          <a:xfrm>
            <a:off x="566928" y="301752"/>
            <a:ext cx="11064240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>
                <a:solidFill>
                  <a:srgbClr val="161E1D"/>
                </a:solidFill>
                <a:latin typeface="Aptos"/>
              </a:rPr>
              <a:t>Supervised Learning — Classification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F0E6FB-E252-2665-6AD4-E3F7B9A8C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51" y="993990"/>
            <a:ext cx="7220321" cy="15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6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Supervised Learning — ML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0">
                <a:solidFill>
                  <a:srgbClr val="161E1D"/>
                </a:solidFill>
                <a:latin typeface="Aptos"/>
              </a:rPr>
              <a:t>•  ML regression predicts continuous numerical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424" y="1769364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0" dirty="0">
                <a:solidFill>
                  <a:srgbClr val="161E1D"/>
                </a:solidFill>
                <a:latin typeface="Aptos"/>
              </a:rPr>
              <a:t>•  Example: estimating a person’s age based on lifestyle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424" y="2219706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100" b="0" dirty="0">
                <a:solidFill>
                  <a:srgbClr val="161E1D"/>
                </a:solidFill>
                <a:latin typeface="Aptos"/>
              </a:rPr>
              <a:t>•  Another example: forecasting stock prices.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F9013-F0B2-561D-6A50-5F2DC1B3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EFDEF3-26E7-9AA5-B62F-49D6B677753B}"/>
              </a:ext>
            </a:extLst>
          </p:cNvPr>
          <p:cNvSpPr txBox="1"/>
          <p:nvPr/>
        </p:nvSpPr>
        <p:spPr>
          <a:xfrm>
            <a:off x="566928" y="301752"/>
            <a:ext cx="11064240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 dirty="0">
                <a:solidFill>
                  <a:srgbClr val="161E1D"/>
                </a:solidFill>
                <a:latin typeface="Aptos"/>
              </a:rPr>
              <a:t>Supervised Learning — </a:t>
            </a:r>
            <a:r>
              <a:rPr lang="en-IN" sz="2000" b="1" dirty="0">
                <a:solidFill>
                  <a:srgbClr val="161E1D"/>
                </a:solidFill>
                <a:latin typeface="Aptos"/>
              </a:rPr>
              <a:t>Regression</a:t>
            </a:r>
            <a:endParaRPr sz="2000" b="1" dirty="0">
              <a:solidFill>
                <a:srgbClr val="161E1D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88DD6-434B-3591-22FF-74DC0B9A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06908"/>
            <a:ext cx="5893103" cy="316881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718EBC-67EF-5183-415A-80DE1C711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49820"/>
              </p:ext>
            </p:extLst>
          </p:nvPr>
        </p:nvGraphicFramePr>
        <p:xfrm>
          <a:off x="457200" y="4466685"/>
          <a:ext cx="8229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92607165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41913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Years of experience (Input)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 (Output)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031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1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595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70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₹6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241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₹7 lakh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6655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53D30E3-43D4-6D60-96A3-E723CB1BAF2B}"/>
              </a:ext>
            </a:extLst>
          </p:cNvPr>
          <p:cNvSpPr txBox="1"/>
          <p:nvPr/>
        </p:nvSpPr>
        <p:spPr>
          <a:xfrm>
            <a:off x="7008671" y="210224"/>
            <a:ext cx="435732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Imagine an IT company wants to predict an employee's salary based on their years of experience.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AI model is trained using historical employee salary data.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How does it work?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model learns that salary tends to increase with experience.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 new employee has 6 years of experience.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model predicts a salary of ₹8 lakh per year, following the pattern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133384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0">
                <a:solidFill>
                  <a:srgbClr val="161E1D"/>
                </a:solidFill>
                <a:latin typeface="Aptos"/>
              </a:rPr>
              <a:t>•  Unsupervised learning uses unlabeled data, with no explicit output labels.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424" y="1796796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0" dirty="0">
                <a:solidFill>
                  <a:srgbClr val="161E1D"/>
                </a:solidFill>
                <a:latin typeface="Aptos"/>
              </a:rPr>
              <a:t>•  The algorithm infers patterns or structures and can group similar inputs based on shared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424" y="2779776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0" dirty="0">
                <a:solidFill>
                  <a:srgbClr val="161E1D"/>
                </a:solidFill>
                <a:latin typeface="Aptos"/>
              </a:rPr>
              <a:t>•  Unsupervised learning is typically categorized into clustering and association.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17AFF-DECE-1F66-8DC3-4FE95AC3453A}"/>
              </a:ext>
            </a:extLst>
          </p:cNvPr>
          <p:cNvSpPr txBox="1"/>
          <p:nvPr/>
        </p:nvSpPr>
        <p:spPr>
          <a:xfrm>
            <a:off x="880110" y="3511296"/>
            <a:ext cx="89314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Unlike supervised learning, we don't provide the correct answers. The AI discovers hidden patterns, similarities, and relationships in the data on its 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Unsupervised Learning —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0">
                <a:solidFill>
                  <a:srgbClr val="161E1D"/>
                </a:solidFill>
                <a:latin typeface="Aptos"/>
              </a:rPr>
              <a:t>•  Clustering groups data points according to their similarities.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37944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500" b="0" dirty="0">
                <a:solidFill>
                  <a:srgbClr val="161E1D"/>
                </a:solidFill>
                <a:latin typeface="Aptos"/>
              </a:rPr>
              <a:t>•  Example: segmenting customers into different groups for targeted marketing.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F6D91-FB45-806C-BD6C-A58558E7A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824" y="3090672"/>
            <a:ext cx="5772447" cy="3149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C9A61-0661-038E-82EB-0625AD49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F97AD-2C77-25A5-5C9F-93E9B3E06FE3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Unsupervised Learning —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ED734-C830-244D-3C3C-4A1F70682961}"/>
              </a:ext>
            </a:extLst>
          </p:cNvPr>
          <p:cNvSpPr txBox="1"/>
          <p:nvPr/>
        </p:nvSpPr>
        <p:spPr>
          <a:xfrm>
            <a:off x="560832" y="990892"/>
            <a:ext cx="8912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 Customer Segmentation in a Shopping Mall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Imagine a shopping mall has data about 1,000 customers, including their age, annual income, and shopping spending.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AI </a:t>
            </a:r>
            <a:r>
              <a:rPr lang="en-IN" dirty="0" err="1"/>
              <a:t>analyzes</a:t>
            </a:r>
            <a:r>
              <a:rPr lang="en-IN" dirty="0"/>
              <a:t> the data and discovers three groups.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374B3-658C-0D47-D0F5-6EB72CE9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88" y="3143423"/>
            <a:ext cx="7258423" cy="3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8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Unsupervised Learning — Association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0" dirty="0">
                <a:solidFill>
                  <a:srgbClr val="161E1D"/>
                </a:solidFill>
                <a:latin typeface="Aptos"/>
              </a:rPr>
              <a:t>•  Association identifies relationships or dependencies among data attributes.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37944"/>
            <a:ext cx="10716768" cy="29915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400" b="0" dirty="0">
                <a:solidFill>
                  <a:srgbClr val="161E1D"/>
                </a:solidFill>
                <a:latin typeface="Aptos"/>
              </a:rPr>
              <a:t>•  Example: finding patterns in customers’ purchasing behavior to recommend products.</a:t>
            </a:r>
            <a:endParaRPr lang="en-IN" sz="2400" b="0" dirty="0">
              <a:solidFill>
                <a:srgbClr val="161E1D"/>
              </a:solidFill>
              <a:latin typeface="Aptos"/>
            </a:endParaRPr>
          </a:p>
          <a:p>
            <a:pPr algn="l"/>
            <a:endParaRPr lang="en-IN" sz="2400" b="0" dirty="0">
              <a:solidFill>
                <a:srgbClr val="161E1D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Finding Relationships Between Items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Association is an unsupervised learning technique that discovers items or events that frequently occur together.</a:t>
            </a:r>
          </a:p>
          <a:p>
            <a:pPr algn="l"/>
            <a:endParaRPr sz="2400" b="0" dirty="0">
              <a:solidFill>
                <a:srgbClr val="161E1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CB9F2-F51E-8DF4-3496-95125C12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7EE012-B2DF-3256-4F7E-3567E2752BCB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Unsupervised Learning — Association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372467-F119-7131-A70F-75FDA62D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67" y="1189277"/>
            <a:ext cx="5505733" cy="301640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D1A6EE-D887-41F4-C581-44CE6ED7F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73255"/>
              </p:ext>
            </p:extLst>
          </p:nvPr>
        </p:nvGraphicFramePr>
        <p:xfrm>
          <a:off x="566928" y="4571443"/>
          <a:ext cx="8229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04326294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17370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Items purchased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56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82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894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Milk, Eggs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488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Bread, Butter, Jam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88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Bread, Milk,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0433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2F2E2AB-6820-68F1-5A5C-929713860B18}"/>
              </a:ext>
            </a:extLst>
          </p:cNvPr>
          <p:cNvSpPr txBox="1"/>
          <p:nvPr/>
        </p:nvSpPr>
        <p:spPr>
          <a:xfrm>
            <a:off x="6366510" y="1189277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Example: Supermarket Basket Analysis</a:t>
            </a:r>
          </a:p>
          <a:p>
            <a:pPr>
              <a:buNone/>
            </a:pPr>
            <a:r>
              <a:rPr lang="en-IN" dirty="0"/>
              <a:t>Imagine a supermarket </a:t>
            </a:r>
            <a:r>
              <a:rPr lang="en-IN" dirty="0" err="1"/>
              <a:t>analyzes</a:t>
            </a:r>
            <a:r>
              <a:rPr lang="en-IN" dirty="0"/>
              <a:t> customers' shopping bills.</a:t>
            </a:r>
          </a:p>
          <a:p>
            <a:pPr>
              <a:buNone/>
            </a:pPr>
            <a:r>
              <a:rPr lang="en-IN" dirty="0"/>
              <a:t>The algorithm discovers that customers who purchase bread frequently purchase butter.</a:t>
            </a:r>
          </a:p>
        </p:txBody>
      </p:sp>
    </p:spTree>
    <p:extLst>
      <p:ext uri="{BB962C8B-B14F-4D97-AF65-F5344CB8AC3E}">
        <p14:creationId xmlns:p14="http://schemas.microsoft.com/office/powerpoint/2010/main" val="2325529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F2900-31E6-E1CB-5895-22755E19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70D2E6-052C-B9BA-0B98-CC801B9FC6B4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Unsupervised Learning — Association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C4DD6-25D2-A78A-35F4-149FC1BF0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117" y="1252522"/>
            <a:ext cx="6782149" cy="30545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6FB25B-F6BE-423C-BE04-69BBD66B6580}"/>
              </a:ext>
            </a:extLst>
          </p:cNvPr>
          <p:cNvSpPr txBox="1"/>
          <p:nvPr/>
        </p:nvSpPr>
        <p:spPr>
          <a:xfrm>
            <a:off x="1657350" y="4589815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How it works: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Input: Thousands of shopping transactions.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algorithm identifies products frequently purchased together.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It discovers patterns such as Bread → Butter.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The supermarket can use these patterns to recommend related products or create combo offers.</a:t>
            </a:r>
          </a:p>
        </p:txBody>
      </p:sp>
    </p:spTree>
    <p:extLst>
      <p:ext uri="{BB962C8B-B14F-4D97-AF65-F5344CB8AC3E}">
        <p14:creationId xmlns:p14="http://schemas.microsoft.com/office/powerpoint/2010/main" val="49147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 dirty="0">
                <a:solidFill>
                  <a:srgbClr val="161E1D"/>
                </a:solidFill>
                <a:latin typeface="Aptos"/>
              </a:rPr>
              <a:t>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5424" y="1088136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dirty="0">
                <a:solidFill>
                  <a:srgbClr val="161E1D"/>
                </a:solidFill>
                <a:latin typeface="Aptos"/>
              </a:rPr>
              <a:t>•  An AI-based system, called an “intelligent agent”, learns by interacting with its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424" y="1920240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dirty="0">
                <a:solidFill>
                  <a:srgbClr val="161E1D"/>
                </a:solidFill>
                <a:latin typeface="Aptos"/>
              </a:rPr>
              <a:t>•  The agent receives positive feedback (rewards) or negative feedback (penalties) based on the outcomes of its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424" y="2926080"/>
            <a:ext cx="10716768" cy="27453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 dirty="0">
                <a:solidFill>
                  <a:srgbClr val="161E1D"/>
                </a:solidFill>
                <a:latin typeface="Aptos"/>
              </a:rPr>
              <a:t>•  This enables it to learn from experience rather than directly from a labeled training dataset.</a:t>
            </a:r>
            <a:endParaRPr lang="en-IN" sz="2200" b="0" dirty="0">
              <a:solidFill>
                <a:srgbClr val="161E1D"/>
              </a:solidFill>
              <a:latin typeface="Aptos"/>
            </a:endParaRPr>
          </a:p>
          <a:p>
            <a:endParaRPr lang="en-IN" sz="2200" dirty="0">
              <a:solidFill>
                <a:srgbClr val="161E1D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161E1D"/>
                </a:solidFill>
                <a:latin typeface="Aptos"/>
              </a:rPr>
              <a:t>Reinforcement Learning is a type of Machine Learning in which an AI agent learns by trial and error, receiving rewards for good actions and penalties for bad 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161E1D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161E1D"/>
                </a:solidFill>
                <a:latin typeface="Aptos"/>
              </a:rPr>
              <a:t>The goal is to learn actions that maximize the total reward over time.</a:t>
            </a:r>
          </a:p>
          <a:p>
            <a:pPr algn="l"/>
            <a:endParaRPr sz="2200" b="0" dirty="0">
              <a:solidFill>
                <a:srgbClr val="161E1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60910-1852-B7B5-9DDF-7D6D54BB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5B047-58F7-E904-1201-1381A0937D66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 dirty="0">
                <a:solidFill>
                  <a:srgbClr val="161E1D"/>
                </a:solidFill>
                <a:latin typeface="Aptos"/>
              </a:rPr>
              <a:t>Reinforcement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FA9B8-A6F4-384C-675C-3364FB30A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" y="1273052"/>
            <a:ext cx="6291072" cy="47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40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0D098-8D95-369A-C4B8-363F54F5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69DAAC-34BA-0E3A-FCDC-EF29A7F1F262}"/>
              </a:ext>
            </a:extLst>
          </p:cNvPr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 dirty="0">
                <a:solidFill>
                  <a:srgbClr val="161E1D"/>
                </a:solidFill>
                <a:latin typeface="Aptos"/>
              </a:rPr>
              <a:t>Reinforcement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B8F0C-0B78-269D-69FE-17AED923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1457223"/>
            <a:ext cx="7931558" cy="43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91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Reinforcement Learning — Challenges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0">
                <a:solidFill>
                  <a:srgbClr val="161E1D"/>
                </a:solidFill>
                <a:latin typeface="Aptos"/>
              </a:rPr>
              <a:t>•  Challenges include setting up the environment, designing the reward function, and selecting the best strategy to meet the desired goal.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05456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0" dirty="0">
                <a:solidFill>
                  <a:srgbClr val="161E1D"/>
                </a:solidFill>
                <a:latin typeface="Aptos"/>
              </a:rPr>
              <a:t>•  Applications include robotics, autonomous vehicles, and adaptive systems such as chatbots.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11064240" cy="7863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161E1D"/>
                </a:solidFill>
                <a:latin typeface="Aptos"/>
              </a:rPr>
              <a:t>Choosing the Right Form of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>
                <a:solidFill>
                  <a:srgbClr val="161E1D"/>
                </a:solidFill>
                <a:latin typeface="Aptos"/>
              </a:rPr>
              <a:t>•  Supervised learning: uses labeled data; commonly supports classification and prediction of numerical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05456"/>
            <a:ext cx="10716768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>
                <a:solidFill>
                  <a:srgbClr val="161E1D"/>
                </a:solidFill>
                <a:latin typeface="Aptos"/>
              </a:rPr>
              <a:t>•  Unsupervised learning: uses unlabeled data; commonly discovers clusters and associations.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56432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>
                <a:solidFill>
                  <a:srgbClr val="161E1D"/>
                </a:solidFill>
                <a:latin typeface="Aptos"/>
              </a:rPr>
              <a:t>•  Reinforcement learning: an agent learns from environmental interactions, rewards, and penalties.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71676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200" b="0">
                <a:solidFill>
                  <a:srgbClr val="161E1D"/>
                </a:solidFill>
                <a:latin typeface="Aptos"/>
              </a:rPr>
              <a:t>•  The suitable ML approach depends on the problem, the nature of the available data, and the intended task.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45F06-BB61-D03F-FCE3-EB8523CC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1861E1-B6A3-8130-2839-1740729F3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3175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950</Words>
  <Application>Microsoft Office PowerPoint</Application>
  <PresentationFormat>Widescreen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Patil</dc:creator>
  <cp:keywords/>
  <dc:description>generated using python-pptx</dc:description>
  <cp:lastModifiedBy>Anurag Patil</cp:lastModifiedBy>
  <cp:revision>23</cp:revision>
  <dcterms:created xsi:type="dcterms:W3CDTF">2013-01-27T09:14:16Z</dcterms:created>
  <dcterms:modified xsi:type="dcterms:W3CDTF">2026-10-14T10:15:03Z</dcterms:modified>
  <cp:category/>
</cp:coreProperties>
</file>