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71" r:id="rId2"/>
    <p:sldId id="272" r:id="rId3"/>
    <p:sldId id="273" r:id="rId4"/>
    <p:sldId id="274" r:id="rId5"/>
    <p:sldId id="275" r:id="rId6"/>
    <p:sldId id="276" r:id="rId7"/>
    <p:sldId id="277" r:id="rId8"/>
    <p:sldId id="27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B91279-A298-46FB-BA0F-9605A37A2641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5563D8-FB90-4654-BEDE-3950429E04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6823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F233E-B538-7A88-0843-E03291F228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8D4AD0-4707-8D60-62F8-5597DC33AE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EBAE0-3847-8404-5DFF-7C8E265EC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D155C-2DEC-44B0-8361-6CBB0DF7D9A6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17B94-BF25-F0C0-E737-7D9B161FD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E76CFF-2709-3C6D-29B5-0176D85E0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C1149-5031-480A-BA48-6FC9C21977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4300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5A923-CDE9-9C35-6236-E48DCCDFA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8BF8C-86CF-513C-917F-34FA40A4D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227E9-A9CE-5BD1-4C6F-95F72B1C8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D155C-2DEC-44B0-8361-6CBB0DF7D9A6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FBA17-F9C1-6152-A032-01BC66164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B9288-53B5-DBB0-2F7A-0DBB028E5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C1149-5031-480A-BA48-6FC9C21977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5359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D1809-9361-07ED-BFD4-60D90166D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3A2826-2571-A616-4B93-C8EC47CA29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A18F89-B09A-5744-B9D3-2F989012F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D155C-2DEC-44B0-8361-6CBB0DF7D9A6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35BD3-7E95-1C24-5A08-C512800D3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3F68A-3D05-0A8C-556F-A6381C06A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C1149-5031-480A-BA48-6FC9C21977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7001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1B6DD-790A-E1D5-8DC9-46A996324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E35E9-416B-0540-7558-76521AC44D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D33DE7-FF80-D2F3-1402-67BB65E58E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1EF42B-06E2-DFD3-17D8-644AD7879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D155C-2DEC-44B0-8361-6CBB0DF7D9A6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F7C535-2EAE-482F-51FB-36B17591B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E802BD-35F2-088D-9E1C-59AD29DF0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C1149-5031-480A-BA48-6FC9C21977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6411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42C6B-7E1D-3948-EE6A-B54F8FAE7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D3CC22-255A-9ECA-14F5-3139439AB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772AAE-EC87-E7B2-F4FD-8F1D5B799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76A585-0C38-8440-781D-6211E4170E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73B94F-7F85-1A2F-0A1B-A381AA701F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BC5580-B9E5-4FAD-D1B9-B601E0470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D155C-2DEC-44B0-8361-6CBB0DF7D9A6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7074BB-60F9-0AB8-D2A7-A2F07168F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4DE96C-E00E-3503-922D-86D3CC61B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C1149-5031-480A-BA48-6FC9C21977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8285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30582-AC25-A5E2-805D-4DE2CA287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CA3755-C89A-42AC-D6DC-164E91BAA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D155C-2DEC-44B0-8361-6CBB0DF7D9A6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959BA5-1490-EFDD-0499-D2168062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336DA5-7D08-8BAE-730A-E19367A5A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C1149-5031-480A-BA48-6FC9C21977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0647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D5903E-4DE2-877D-7813-4132A0AE4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D155C-2DEC-44B0-8361-6CBB0DF7D9A6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47B7D3-16EE-4944-DC3E-451555214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CCBEA9-2621-575B-A65C-F2772B3F6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C1149-5031-480A-BA48-6FC9C21977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5575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CB81F-5AE4-C768-6630-D0CB8563D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C671B-4041-7C38-3C05-C662995F40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6E0EF2-8916-AD35-18FF-7CFA247968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363C7B-BB95-A184-6359-259B3CB94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D155C-2DEC-44B0-8361-6CBB0DF7D9A6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4C7895-CC48-5444-F45E-0A705F616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0ABD9B-2C3C-88E1-18EA-037253FD1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C1149-5031-480A-BA48-6FC9C21977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18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0CC95-769A-B172-2A74-98D8C3790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D77AD8-E6A8-98B8-969C-96AA515CE1D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28A0AE-71C6-06AD-3F30-E97E352C0E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B2E60D-3010-5E26-F050-33D2DF496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D155C-2DEC-44B0-8361-6CBB0DF7D9A6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38601A-ED27-4F7F-780F-8E8E075D7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15ED9B-57B3-6272-01A6-7E525C305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C1149-5031-480A-BA48-6FC9C21977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8940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B9846-AEF1-B99A-D0A7-5AE04BA98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FF53EF-335D-76E9-428B-98F946AC27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3034C-D6E0-EAFA-E422-44B077FEB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D155C-2DEC-44B0-8361-6CBB0DF7D9A6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6D401-022E-C212-8990-69BF2EC21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5D043-FEF0-0211-A327-3EE756E1B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C1149-5031-480A-BA48-6FC9C21977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5375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8902B0-5176-02D3-7023-80392E379B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B14A45-169F-4706-8D22-96F2E20704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B457A-AA92-7FB4-65D0-CF4502150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D155C-2DEC-44B0-8361-6CBB0DF7D9A6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C69384-734C-5FB7-6D20-FE35737FB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77BEF-2B6A-D29A-EE6D-D03F59CF2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C1149-5031-480A-BA48-6FC9C21977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01145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2655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5838A2-6B38-E40F-8F73-AF7E0369A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9C3C2B-EA9B-F7AF-3606-7B95A9828A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8D2C1A-7B02-AF07-7588-6A674DEDBC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ED155C-2DEC-44B0-8361-6CBB0DF7D9A6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E2D8CA-DEBF-95E5-9BC5-F0CB6BC891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6DA19-E1BE-1305-C541-ADFCB5597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FC1149-5031-480A-BA48-6FC9C21977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0180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2.1.2 AI and Safety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30352" y="914400"/>
            <a:ext cx="9235440" cy="0"/>
          </a:xfrm>
          <a:prstGeom prst="line">
            <a:avLst/>
          </a:prstGeom>
          <a:noFill/>
          <a:ln w="8255">
            <a:solidFill>
              <a:srgbClr val="0808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1161288"/>
            <a:ext cx="10561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Safety-related systems can cause injury or harm to people, property or the environment.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85216" y="1746504"/>
            <a:ext cx="10561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Developing and testing conventional safety-related systems is demanding but feasible.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5216" y="2331720"/>
            <a:ext cx="10561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AI-based safety-related systems introduce additional challenges: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9264" y="2770632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Specifications and traceability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9264" y="3209544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Non-determinism and unpredictable outcomes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9264" y="3648456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Self-learning after deployment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9264" y="4087368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Explainability and transparency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9264" y="4526280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Evolving regulations and safety standards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and Safety Cont. — Specifications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30352" y="914400"/>
            <a:ext cx="9235440" cy="0"/>
          </a:xfrm>
          <a:prstGeom prst="line">
            <a:avLst/>
          </a:prstGeom>
          <a:noFill/>
          <a:ln w="8255">
            <a:solidFill>
              <a:srgbClr val="0808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1161288"/>
            <a:ext cx="10561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Conventional safety-related systems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9264" y="1600200"/>
            <a:ext cx="10104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Requirements are defined for the full system and refined into implementable code.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5216" y="2185416"/>
            <a:ext cx="10561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AI-based safety-related systems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9264" y="2624328"/>
            <a:ext cx="10104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Requirements may begin as vague goals rather than complete detailed rules.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9264" y="3209544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Training data implicitly represents patterns, rules and objectives.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9264" y="3648456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This can weaken traceability from requirements to implementation.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85216" y="4087368"/>
            <a:ext cx="10561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Testing implication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9264" y="4526280"/>
            <a:ext cx="10104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Check data coverage, defined expected behaviors and requirements traceability.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and Safety Cont. — Non-determinism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30352" y="914400"/>
            <a:ext cx="9235440" cy="0"/>
          </a:xfrm>
          <a:prstGeom prst="line">
            <a:avLst/>
          </a:prstGeom>
          <a:noFill/>
          <a:ln w="8255">
            <a:solidFill>
              <a:srgbClr val="0808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1161288"/>
            <a:ext cx="10561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Many AI-based systems do not always produce precisely predictable behavior.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85216" y="1746504"/>
            <a:ext cx="10561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Even thoroughly tested models may behave unexpectedly because of: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9264" y="2185416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Random number generation or probabilistic processing.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9264" y="2624328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Small differences in input values.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85216" y="3063240"/>
            <a:ext cx="10561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It is difficult to guarantee every output or outcome.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85216" y="3502152"/>
            <a:ext cx="10561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Testing implication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9264" y="3941064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Repeat tests, assess output variability and check safety thresholds.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9264" y="4379976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Example: Slightly changed sensor readings affect a driving decision.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and Safety Cont. — Self-learning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30352" y="914400"/>
            <a:ext cx="9235440" cy="0"/>
          </a:xfrm>
          <a:prstGeom prst="line">
            <a:avLst/>
          </a:prstGeom>
          <a:noFill/>
          <a:ln w="8255">
            <a:solidFill>
              <a:srgbClr val="0808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1161288"/>
            <a:ext cx="10561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Safety testing usually demonstrates an acceptable level of safety before release.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9264" y="1746504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A self-learning AI may change its behavior after deployment.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9264" y="2185416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Its new behavior can move away from the originally tested behavior.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85216" y="2624328"/>
            <a:ext cx="10561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Possible risk controls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9264" y="3063240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Manage learning processes and the data used for learning.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9264" y="3502152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Implement safety guards to block harmful learning or decisions.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9264" y="3941064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Example: A content moderation component filters unsafe prompts.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85216" y="4379976"/>
            <a:ext cx="10561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Testing implication: Monitor changes and re-evaluate safety after updates.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and Safety Cont. — Explainability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30352" y="914400"/>
            <a:ext cx="9235440" cy="0"/>
          </a:xfrm>
          <a:prstGeom prst="line">
            <a:avLst/>
          </a:prstGeom>
          <a:noFill/>
          <a:ln w="8255">
            <a:solidFill>
              <a:srgbClr val="0808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1161288"/>
            <a:ext cx="10561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Safety-related systems need understandable reasons for their decisions.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85216" y="1600200"/>
            <a:ext cx="10561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Many AI models have decision-making processes that are not transparent.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9264" y="2039112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Explainable AI (XAI) can provide insight into model behavior.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9264" y="2478024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LIME = Local Interpretable Model-agnostic Explanations.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9264" y="2916936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Such methods are not always widely available and can affect performance.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85216" y="3355848"/>
            <a:ext cx="10561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Testing implication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9264" y="3794760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Evaluate whether explanations are useful, reliable and timely.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9264" y="4233672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Example: Explain which symptoms influenced a medical AI recommendation.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and Safety Cont. — Evolving Regulations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30352" y="914400"/>
            <a:ext cx="9235440" cy="0"/>
          </a:xfrm>
          <a:prstGeom prst="line">
            <a:avLst/>
          </a:prstGeom>
          <a:noFill/>
          <a:ln w="8255">
            <a:solidFill>
              <a:srgbClr val="0808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1161288"/>
            <a:ext cx="10561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Regulations for safety-related AI systems continue to change.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9264" y="1600200"/>
            <a:ext cx="10104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Mature international functional safety standards may not fully address AI.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9264" y="2185416"/>
            <a:ext cx="101041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Some standards may prohibit AI in certain safety-related systems.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9264" y="2624328"/>
            <a:ext cx="10104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The EU AI Act places strict requirements on qualifying high-risk AI systems.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9264" y="3209544"/>
            <a:ext cx="10104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Examples include AI safety components in aviation, medical and automotive contexts.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85216" y="3794760"/>
            <a:ext cx="10561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Testing implication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9264" y="4233672"/>
            <a:ext cx="10104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◦ Review applicable rules, maintain test evidence and update compliance checks.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2.1.2 AI Safety — Testing Summary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30352" y="914400"/>
            <a:ext cx="9235440" cy="0"/>
          </a:xfrm>
          <a:prstGeom prst="line">
            <a:avLst/>
          </a:prstGeom>
          <a:noFill/>
          <a:ln w="8255">
            <a:solidFill>
              <a:srgbClr val="0808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1161288"/>
            <a:ext cx="10561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Specifications: Define testable goals and trace requirements to datasets/models.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85216" y="1746504"/>
            <a:ext cx="10561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Non-determinism: Check variability, repeatability and acceptable safety limits.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5216" y="2331720"/>
            <a:ext cx="10561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Self-learning: Control changes and test again as the AI evolves.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85216" y="2770632"/>
            <a:ext cx="10561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Explainability: Test how well important decisions can be explained.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85216" y="3209544"/>
            <a:ext cx="10561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Evolving regulations: Align tests and evidence with applicable requirements.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85216" y="3794760"/>
            <a:ext cx="10561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Main objective: Reduce the risk of harm to people, property and the environment.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8346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YOU!!!</a:t>
            </a:r>
            <a:endParaRPr lang="en-US" sz="3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588</Words>
  <Application>Microsoft Office PowerPoint</Application>
  <PresentationFormat>Widescreen</PresentationFormat>
  <Paragraphs>69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Anurag Patil</dc:creator>
  <cp:lastModifiedBy>Anurag Patil</cp:lastModifiedBy>
  <cp:revision>1</cp:revision>
  <dcterms:created xsi:type="dcterms:W3CDTF">2026-10-14T03:43:15Z</dcterms:created>
  <dcterms:modified xsi:type="dcterms:W3CDTF">2026-10-14T03:44:09Z</dcterms:modified>
</cp:coreProperties>
</file>