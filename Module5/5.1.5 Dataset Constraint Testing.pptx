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75" r:id="rId2"/>
    <p:sldId id="283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AAEFD-765E-87D0-7112-E167FE661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C18A72-4328-C92A-9F2F-60F0FFA0B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F77D22-F290-F285-74B6-5EB399B67E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6232B-D53B-1120-C6ED-D5530F4ACA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216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AB83A-67C5-D33B-5D35-6C6FECF26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94AB6A-9488-2CC2-FFBB-204CFDE8B3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E69328-62A6-D4C9-57E6-3BA69F6823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5587C-4E53-7713-CE0D-585FBD5AE4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862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54019-232D-5FC3-1FC6-66E4B00E7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6A2DC4-1D7C-B409-7614-4CB31F8CA7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8400F3-1AF3-7E20-F36C-2DEF5DEFA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93D49-F2E6-15DE-FCEF-0C613F093B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277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045F8-6887-26E4-2BB4-69CE0FA5F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51C3FA-DA8A-6911-FC0D-2FB4E47E5F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A131C0-5362-E232-DF85-07658E873E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C4A7F-4B78-2FC3-4AB7-CB707A9E33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675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EFFFB-0511-2EAA-0976-CF8EE0BB8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4B8E39-A9A9-8A1E-41E5-82FF4399C6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D7CD83-C0D2-348F-2BEB-73FF4E5F3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E26DB-4920-5B80-EBC5-B731E45103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1023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E32B6-1D70-6F7F-EDA8-436C536A4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D16AC1-6BBA-B0E3-BF4D-3A60355A2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9F957B-4216-F3F5-5169-DBA0E9F83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997E95-E378-A356-8391-7EA58A0693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7087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17118-C2B5-5E65-8F50-68EE310C2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3EAB69-A0C5-24B3-F0EE-FD28D6CD95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BB7412-D5AC-3381-B2EE-E05F23870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13BCF-5B92-399D-0E3A-169588C7DA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9916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8C30F-D2E3-0051-8873-DDB54A2A0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84C339-4F89-5186-21CB-A0C09D212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E2E5FD-A84A-F2AD-CE6D-D66AED15D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7F40A0-150F-3261-79F5-0F7161AE2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193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17051-8536-5504-0CB8-D618CE21D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97761-8DD9-9F94-A0E9-2EF2CA7932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5E917D-000E-03D2-3E98-4C4ABFEAFE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1D3EC-FC14-249D-A10C-A56CE83E89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3409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7A5E60-7275-B82A-F504-B301FD9C2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C30D56E-1C4C-E563-ED15-3C4CBA155959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316E6D8-D277-0F17-8616-A111257BDC04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7BEEA8-A57A-7BB1-7DA1-0920716F8F95}"/>
              </a:ext>
            </a:extLst>
          </p:cNvPr>
          <p:cNvSpPr txBox="1"/>
          <p:nvPr/>
        </p:nvSpPr>
        <p:spPr>
          <a:xfrm>
            <a:off x="530352" y="393192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5.1.5 Dataset Constraint Testing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A0B776-E066-265C-9C2F-2ED392F7D7EB}"/>
              </a:ext>
            </a:extLst>
          </p:cNvPr>
          <p:cNvSpPr txBox="1"/>
          <p:nvPr/>
        </p:nvSpPr>
        <p:spPr>
          <a:xfrm>
            <a:off x="1149470" y="1296239"/>
            <a:ext cx="8529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EC70DC-776C-1801-9AE4-46E54E27A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664" y="1188688"/>
            <a:ext cx="9264770" cy="558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022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0DB3CB-C905-352C-CD82-A432D80F1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61F7869-B75D-E002-5DA6-BB271095BAC8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45B805D-1225-6E92-D6BA-227E84AA8365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33501A-9A26-6554-6DAB-3BE7D3DA6593}"/>
              </a:ext>
            </a:extLst>
          </p:cNvPr>
          <p:cNvSpPr txBox="1"/>
          <p:nvPr/>
        </p:nvSpPr>
        <p:spPr>
          <a:xfrm>
            <a:off x="530352" y="393192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5.1.5 Dataset Constraint Testing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635C9B-A947-350E-94D9-0E7673306BF7}"/>
              </a:ext>
            </a:extLst>
          </p:cNvPr>
          <p:cNvSpPr txBox="1"/>
          <p:nvPr/>
        </p:nvSpPr>
        <p:spPr>
          <a:xfrm>
            <a:off x="1149470" y="1296239"/>
            <a:ext cx="8529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6A6614-B505-F53B-3282-8B712A91854F}"/>
              </a:ext>
            </a:extLst>
          </p:cNvPr>
          <p:cNvSpPr txBox="1"/>
          <p:nvPr/>
        </p:nvSpPr>
        <p:spPr>
          <a:xfrm>
            <a:off x="813039" y="1597210"/>
            <a:ext cx="942651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Dataset constraint testing verifies whether the data in a dataset follows predefined rules or constraints. The main objective is to ensure the integrity, accuracy, consistency, and quality of the data used in Machine Learning (ML) systems.</a:t>
            </a:r>
          </a:p>
          <a:p>
            <a:pPr>
              <a:buNone/>
            </a:pPr>
            <a:r>
              <a:rPr lang="en-IN" dirty="0"/>
              <a:t>For example, dataset constraint testing can verify that age values are within an acceptable range, required fields are not empty, and duplicate records are not present.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Understanding Dataset Constraints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Data constraints are commonly defined in database schemas. A database schema specifies the structure, data types, and relationships between different data elements.</a:t>
            </a:r>
          </a:p>
          <a:p>
            <a:pPr>
              <a:buNone/>
            </a:pPr>
            <a:r>
              <a:rPr lang="en-IN" dirty="0"/>
              <a:t>Similarly, in Machine Learning datasets, constraints define a logical model of how the data should appear. If the dataset is correct, it should satisfy these constraints.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Dataset constraints can be classified into three main categories: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Single-Value Constraints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Multi-Value Constraints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Comparison Constraints</a:t>
            </a:r>
          </a:p>
        </p:txBody>
      </p:sp>
    </p:spTree>
    <p:extLst>
      <p:ext uri="{BB962C8B-B14F-4D97-AF65-F5344CB8AC3E}">
        <p14:creationId xmlns:p14="http://schemas.microsoft.com/office/powerpoint/2010/main" val="2701105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BE772-F374-D0AA-D964-E4686F834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6BF10F6-3C95-35E0-17F1-9F208FF369F9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7876CDA-45F3-C14F-FAF8-80AA3F754CA1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EA8173-8DBB-CD9A-DDED-EF9469298244}"/>
              </a:ext>
            </a:extLst>
          </p:cNvPr>
          <p:cNvSpPr txBox="1"/>
          <p:nvPr/>
        </p:nvSpPr>
        <p:spPr>
          <a:xfrm>
            <a:off x="530352" y="393192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5.1.5 Dataset Constraint Testing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7C3AE7-5024-170E-95EE-7549EF01830D}"/>
              </a:ext>
            </a:extLst>
          </p:cNvPr>
          <p:cNvSpPr txBox="1"/>
          <p:nvPr/>
        </p:nvSpPr>
        <p:spPr>
          <a:xfrm>
            <a:off x="1149470" y="1296239"/>
            <a:ext cx="8529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22F3B3-2590-0A78-970A-7010A3E97176}"/>
              </a:ext>
            </a:extLst>
          </p:cNvPr>
          <p:cNvSpPr txBox="1"/>
          <p:nvPr/>
        </p:nvSpPr>
        <p:spPr>
          <a:xfrm>
            <a:off x="776851" y="1191769"/>
            <a:ext cx="10616961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b="1" dirty="0"/>
              <a:t>Single-Value Constraints</a:t>
            </a:r>
          </a:p>
          <a:p>
            <a:pPr marL="342900" indent="-342900">
              <a:buAutoNum type="arabicPeriod"/>
            </a:pPr>
            <a:endParaRPr lang="en-IN" b="1" dirty="0"/>
          </a:p>
          <a:p>
            <a:pPr marL="342900" indent="-342900">
              <a:buAutoNum type="arabicPeriod"/>
            </a:pPr>
            <a:endParaRPr lang="en-IN" b="1" dirty="0"/>
          </a:p>
          <a:p>
            <a:r>
              <a:rPr lang="en-IN" dirty="0"/>
              <a:t>Single-value constraints are applied to an individual attribute value within a single record or instance of a dataset.</a:t>
            </a:r>
          </a:p>
          <a:p>
            <a:endParaRPr lang="en-IN" dirty="0"/>
          </a:p>
          <a:p>
            <a:r>
              <a:rPr lang="en-IN" dirty="0"/>
              <a:t>These constraints verify whether each value satisfies the specified condition.</a:t>
            </a:r>
          </a:p>
          <a:p>
            <a:endParaRPr lang="en-IN" dirty="0"/>
          </a:p>
          <a:p>
            <a:r>
              <a:rPr lang="en-IN" dirty="0"/>
              <a:t>a. Missing Value Constraint</a:t>
            </a:r>
          </a:p>
          <a:p>
            <a:r>
              <a:rPr lang="en-IN" dirty="0"/>
              <a:t>Missing value constraints verify whether the dataset contains missing values or missing attributes.</a:t>
            </a:r>
          </a:p>
          <a:p>
            <a:r>
              <a:rPr lang="en-IN" dirty="0"/>
              <a:t>For example, in a student dataset, attributes such as Student ID, Name, and Marks may be mandatory. If any required attribute is missing, the constraint test fails.</a:t>
            </a:r>
          </a:p>
          <a:p>
            <a:r>
              <a:rPr lang="en-IN" dirty="0"/>
              <a:t>b. Range Constraint</a:t>
            </a:r>
          </a:p>
          <a:p>
            <a:r>
              <a:rPr lang="en-IN" dirty="0"/>
              <a:t>Range constraints verify whether an attribute value falls within a specified minimum and maximum range.</a:t>
            </a:r>
          </a:p>
          <a:p>
            <a:r>
              <a:rPr lang="en-IN" dirty="0"/>
              <a:t>For example, if student marks must be between 0 and 100, any value below 0 or above 100 violates the range constraint.</a:t>
            </a:r>
          </a:p>
          <a:p>
            <a:r>
              <a:rPr lang="en-IN" dirty="0"/>
              <a:t>c. Type Constraint</a:t>
            </a:r>
          </a:p>
          <a:p>
            <a:r>
              <a:rPr lang="en-IN" dirty="0"/>
              <a:t>Type constraints verify whether an attribute contains values of the correct data type.</a:t>
            </a:r>
          </a:p>
          <a:p>
            <a:r>
              <a:rPr lang="en-IN" dirty="0"/>
              <a:t>For example, if the Age attribute is defined as an integer, values such as "Twenty" or 25.5 violate the integer type constraint.</a:t>
            </a:r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4652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BA6EF2-BABC-30DA-41E6-B2500A158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A4EBF86-5AA1-3CF9-6F03-FF15F75E0D04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1AB9303-60FC-6ADD-8EF6-58EA1A1CF7CD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C64C74-DF3D-B7E2-6950-717DB73BE219}"/>
              </a:ext>
            </a:extLst>
          </p:cNvPr>
          <p:cNvSpPr txBox="1"/>
          <p:nvPr/>
        </p:nvSpPr>
        <p:spPr>
          <a:xfrm>
            <a:off x="530352" y="393192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5.1.5 Dataset Constraint Testing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79E252-D6C5-4DD9-81F4-6AA991457A71}"/>
              </a:ext>
            </a:extLst>
          </p:cNvPr>
          <p:cNvSpPr txBox="1"/>
          <p:nvPr/>
        </p:nvSpPr>
        <p:spPr>
          <a:xfrm>
            <a:off x="1149470" y="1296239"/>
            <a:ext cx="8529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0A2E5-394A-ED82-FB2E-3B361890E7D4}"/>
              </a:ext>
            </a:extLst>
          </p:cNvPr>
          <p:cNvSpPr txBox="1"/>
          <p:nvPr/>
        </p:nvSpPr>
        <p:spPr>
          <a:xfrm>
            <a:off x="776851" y="1191769"/>
            <a:ext cx="1061696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2. Multi-Value Constraints</a:t>
            </a:r>
          </a:p>
          <a:p>
            <a:endParaRPr lang="en-IN" b="1" dirty="0"/>
          </a:p>
          <a:p>
            <a:pPr marL="285750" indent="-285750">
              <a:buFontTx/>
              <a:buChar char="-"/>
            </a:pPr>
            <a:r>
              <a:rPr lang="en-IN" dirty="0"/>
              <a:t>a. Sum Constraint: Verifies whether the sum of multiple values satisfies a specified limit (e.g., total race points must not exceed 102).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/>
              <a:t>b. Count Constraint: Verifies whether the number of valid or non-null records meets a specified requirement (e.g., at least 1,000 customer records).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/>
              <a:t>c. Duplicate Constraint: Identifies identical or nearly identical records in a dataset (e.g., duplicate customer IDs).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/>
              <a:t>d. Useful Value Constraint: Checks whether an attribute contains meaningful patterns useful for ML training (e.g., unique customer IDs may not help in prediction).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r>
              <a:rPr lang="en-IN" dirty="0"/>
              <a:t>- e. Outlier Constraint: Identifies values that are unusually different from other values in the dataset (e.g., a salary of ₹50 lakh when most salaries are below ₹1 lakh).</a:t>
            </a:r>
          </a:p>
        </p:txBody>
      </p:sp>
    </p:spTree>
    <p:extLst>
      <p:ext uri="{BB962C8B-B14F-4D97-AF65-F5344CB8AC3E}">
        <p14:creationId xmlns:p14="http://schemas.microsoft.com/office/powerpoint/2010/main" val="196486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59B8E0-465D-0632-1731-3F5ED4135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64B0A79-0A98-6365-AC23-4E687D5B33B7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35599D4-6604-8975-1994-F43E8B1A740E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90ED1A-3FC7-CF9E-1A4F-34ABD7F59471}"/>
              </a:ext>
            </a:extLst>
          </p:cNvPr>
          <p:cNvSpPr txBox="1"/>
          <p:nvPr/>
        </p:nvSpPr>
        <p:spPr>
          <a:xfrm>
            <a:off x="530352" y="393192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5.1.5 Dataset Constraint Testing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5007F7-B604-304A-CE34-EA12F3809A94}"/>
              </a:ext>
            </a:extLst>
          </p:cNvPr>
          <p:cNvSpPr txBox="1"/>
          <p:nvPr/>
        </p:nvSpPr>
        <p:spPr>
          <a:xfrm>
            <a:off x="1149470" y="1296239"/>
            <a:ext cx="8529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478F20-FCB1-C2BB-A702-10BECE52AF0F}"/>
              </a:ext>
            </a:extLst>
          </p:cNvPr>
          <p:cNvSpPr txBox="1"/>
          <p:nvPr/>
        </p:nvSpPr>
        <p:spPr>
          <a:xfrm>
            <a:off x="776851" y="1191769"/>
            <a:ext cx="1061696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3. Comparison Constraints</a:t>
            </a:r>
          </a:p>
          <a:p>
            <a:endParaRPr lang="en-IN" b="1" dirty="0"/>
          </a:p>
          <a:p>
            <a:pPr marL="285750" indent="-285750">
              <a:buFontTx/>
              <a:buChar char="-"/>
            </a:pPr>
            <a:r>
              <a:rPr lang="en-IN" dirty="0"/>
              <a:t>a. Greater Than Constraint: Verifies whether one attribute's value is greater than another attribute's value (e.g., total lines of code must exceed defective lines of code).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r>
              <a:rPr lang="en-IN" dirty="0"/>
              <a:t>- b. Correlation Constraint: Verifies whether two attributes follow an expected relationship (e.g., students scoring significantly above average should receive grade 'A').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2787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EF94F5-238A-45F9-86F6-44D883567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F3D9856-275D-FA76-47BD-B2726BFF698A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721B75A-F0A4-3403-A775-DA55E312F483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7B0090-08C2-E9C5-8752-7B97FD375A98}"/>
              </a:ext>
            </a:extLst>
          </p:cNvPr>
          <p:cNvSpPr txBox="1"/>
          <p:nvPr/>
        </p:nvSpPr>
        <p:spPr>
          <a:xfrm>
            <a:off x="530352" y="393192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5.1.5 Dataset Constraint Testing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80178D-87B6-B255-FAD3-B0A262E2B578}"/>
              </a:ext>
            </a:extLst>
          </p:cNvPr>
          <p:cNvSpPr txBox="1"/>
          <p:nvPr/>
        </p:nvSpPr>
        <p:spPr>
          <a:xfrm>
            <a:off x="1149470" y="1296239"/>
            <a:ext cx="8529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D68D71-8278-DBE6-404B-DA9783C15B58}"/>
              </a:ext>
            </a:extLst>
          </p:cNvPr>
          <p:cNvSpPr txBox="1"/>
          <p:nvPr/>
        </p:nvSpPr>
        <p:spPr>
          <a:xfrm>
            <a:off x="776851" y="1191769"/>
            <a:ext cx="1061696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4. Manual and Automated Dataset Constraint Testing</a:t>
            </a:r>
          </a:p>
          <a:p>
            <a:endParaRPr lang="en-IN" b="1" dirty="0"/>
          </a:p>
          <a:p>
            <a:r>
              <a:rPr lang="en-IN" dirty="0"/>
              <a:t>Dataset constraint testing can be performed manually, but large ML datasets require automation as part of the data pipeline to ensure data quality and consistency.</a:t>
            </a:r>
          </a:p>
          <a:p>
            <a:endParaRPr lang="en-IN" dirty="0"/>
          </a:p>
          <a:p>
            <a:r>
              <a:rPr lang="en-IN" dirty="0"/>
              <a:t>Automated testing helps to:</a:t>
            </a:r>
          </a:p>
          <a:p>
            <a:endParaRPr lang="en-IN" dirty="0"/>
          </a:p>
          <a:p>
            <a:pPr lvl="0"/>
            <a:r>
              <a:rPr lang="en-IN" dirty="0"/>
              <a:t>Validate data against predefined rules.</a:t>
            </a:r>
          </a:p>
          <a:p>
            <a:pPr lvl="0"/>
            <a:r>
              <a:rPr lang="en-IN" dirty="0"/>
              <a:t>Detect missing values, incorrect data types, duplicates, and outliers.</a:t>
            </a:r>
          </a:p>
          <a:p>
            <a:pPr lvl="0"/>
            <a:r>
              <a:rPr lang="en-IN" dirty="0"/>
              <a:t>Identify records that violate constraints.</a:t>
            </a:r>
          </a:p>
          <a:p>
            <a:pPr lvl="0"/>
            <a:r>
              <a:rPr lang="en-IN" dirty="0"/>
              <a:t>Generate data quality reports.</a:t>
            </a:r>
          </a:p>
          <a:p>
            <a:pPr lvl="0"/>
            <a:r>
              <a:rPr lang="en-IN" dirty="0"/>
              <a:t>Prevent incorrect data from being used for ML model training.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2023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626A6B-2FBF-DCB5-B2D0-2E8D92E62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B7EF1B-8F6F-0F23-49B0-D0C391851AC6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37369EA-51D5-2DCB-6DEC-8E0712B05304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049F93-6912-BF39-72A6-4173E1006D15}"/>
              </a:ext>
            </a:extLst>
          </p:cNvPr>
          <p:cNvSpPr txBox="1"/>
          <p:nvPr/>
        </p:nvSpPr>
        <p:spPr>
          <a:xfrm>
            <a:off x="530352" y="393192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5.1.5 Dataset Constraint Testing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E074A2-A757-5930-7436-ED1C6674E820}"/>
              </a:ext>
            </a:extLst>
          </p:cNvPr>
          <p:cNvSpPr txBox="1"/>
          <p:nvPr/>
        </p:nvSpPr>
        <p:spPr>
          <a:xfrm>
            <a:off x="1149470" y="1296239"/>
            <a:ext cx="8529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A9A37D-E101-20A1-3316-80A209DECB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851676"/>
              </p:ext>
            </p:extLst>
          </p:nvPr>
        </p:nvGraphicFramePr>
        <p:xfrm>
          <a:off x="1197418" y="1254863"/>
          <a:ext cx="8481420" cy="49260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27140">
                  <a:extLst>
                    <a:ext uri="{9D8B030D-6E8A-4147-A177-3AD203B41FA5}">
                      <a16:colId xmlns:a16="http://schemas.microsoft.com/office/drawing/2014/main" val="3686999753"/>
                    </a:ext>
                  </a:extLst>
                </a:gridCol>
                <a:gridCol w="2827140">
                  <a:extLst>
                    <a:ext uri="{9D8B030D-6E8A-4147-A177-3AD203B41FA5}">
                      <a16:colId xmlns:a16="http://schemas.microsoft.com/office/drawing/2014/main" val="3764727381"/>
                    </a:ext>
                  </a:extLst>
                </a:gridCol>
                <a:gridCol w="2827140">
                  <a:extLst>
                    <a:ext uri="{9D8B030D-6E8A-4147-A177-3AD203B41FA5}">
                      <a16:colId xmlns:a16="http://schemas.microsoft.com/office/drawing/2014/main" val="377011590"/>
                    </a:ext>
                  </a:extLst>
                </a:gridCol>
              </a:tblGrid>
              <a:tr h="295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Constraint Type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Constraint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Purpose</a:t>
                      </a:r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3685407035"/>
                  </a:ext>
                </a:extLst>
              </a:tr>
              <a:tr h="295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Single-Value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Missing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Detect missing values or attributes</a:t>
                      </a:r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522783637"/>
                  </a:ext>
                </a:extLst>
              </a:tr>
              <a:tr h="516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Single-Value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Range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Verify values are within specified limits</a:t>
                      </a:r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216001511"/>
                  </a:ext>
                </a:extLst>
              </a:tr>
              <a:tr h="295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Single-Value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Type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Verify correct data types</a:t>
                      </a:r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1337328946"/>
                  </a:ext>
                </a:extLst>
              </a:tr>
              <a:tr h="295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Multi-Value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Sum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Validate the total of multiple values</a:t>
                      </a:r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1054256072"/>
                  </a:ext>
                </a:extLst>
              </a:tr>
              <a:tr h="516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Multi-Value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Count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Verify the number of valid records or values</a:t>
                      </a:r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130514510"/>
                  </a:ext>
                </a:extLst>
              </a:tr>
              <a:tr h="516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Multi-Value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Duplicate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Detect identical or nearly identical records</a:t>
                      </a:r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2727172013"/>
                  </a:ext>
                </a:extLst>
              </a:tr>
              <a:tr h="516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Multi-Value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Useful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Identify attributes with limited predictive usefulness</a:t>
                      </a:r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3309288770"/>
                  </a:ext>
                </a:extLst>
              </a:tr>
              <a:tr h="295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Multi-Value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Outlier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Detect statistically unusual values</a:t>
                      </a:r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3131906956"/>
                  </a:ext>
                </a:extLst>
              </a:tr>
              <a:tr h="295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Comparison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Greater Than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Compare values between attributes</a:t>
                      </a:r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3677747594"/>
                  </a:ext>
                </a:extLst>
              </a:tr>
              <a:tr h="516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Comparison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Correlate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Verify expected relationships between attributes</a:t>
                      </a:r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36764032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A9A43D2-52B5-267A-2812-64D3CA38061A}"/>
              </a:ext>
            </a:extLst>
          </p:cNvPr>
          <p:cNvSpPr txBox="1"/>
          <p:nvPr/>
        </p:nvSpPr>
        <p:spPr>
          <a:xfrm>
            <a:off x="2260012" y="874188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Summary of Dataset Constraint Testing</a:t>
            </a:r>
          </a:p>
        </p:txBody>
      </p:sp>
    </p:spTree>
    <p:extLst>
      <p:ext uri="{BB962C8B-B14F-4D97-AF65-F5344CB8AC3E}">
        <p14:creationId xmlns:p14="http://schemas.microsoft.com/office/powerpoint/2010/main" val="2680294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38044F-11E5-5CB2-16F5-B7CF2F30A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C10405B-D21E-D4E1-DD66-E9BB91D9299F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FC8A875-15C7-65BF-F7E5-3A1C736A4260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A4921F-F496-575B-D523-05BF8ADBBFCA}"/>
              </a:ext>
            </a:extLst>
          </p:cNvPr>
          <p:cNvSpPr txBox="1"/>
          <p:nvPr/>
        </p:nvSpPr>
        <p:spPr>
          <a:xfrm>
            <a:off x="530352" y="393192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5.1.5 Dataset Constraint Testing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B335BF-1975-541A-AB8E-7063B2E33E60}"/>
              </a:ext>
            </a:extLst>
          </p:cNvPr>
          <p:cNvSpPr txBox="1"/>
          <p:nvPr/>
        </p:nvSpPr>
        <p:spPr>
          <a:xfrm>
            <a:off x="1149470" y="1296239"/>
            <a:ext cx="8529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31BF929-74B5-28E4-B281-B77ED31544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802304"/>
              </p:ext>
            </p:extLst>
          </p:nvPr>
        </p:nvGraphicFramePr>
        <p:xfrm>
          <a:off x="838200" y="3542368"/>
          <a:ext cx="1051560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2485726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4853289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8176255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526794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Grade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6832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175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4936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4469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8760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337910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9E79398-E8BA-9460-C6FB-2AC363566C5D}"/>
              </a:ext>
            </a:extLst>
          </p:cNvPr>
          <p:cNvSpPr txBox="1"/>
          <p:nvPr/>
        </p:nvSpPr>
        <p:spPr>
          <a:xfrm>
            <a:off x="2366873" y="1217241"/>
            <a:ext cx="609456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Simple Example: Student Dataset</a:t>
            </a:r>
          </a:p>
          <a:p>
            <a:pPr>
              <a:buNone/>
            </a:pPr>
            <a:r>
              <a:rPr lang="en-IN" dirty="0"/>
              <a:t>Consider the following dataset used to train a Machine Learning model that predicts student performance.</a:t>
            </a:r>
          </a:p>
          <a:p>
            <a:pPr>
              <a:buNone/>
            </a:pPr>
            <a:r>
              <a:rPr lang="en-IN" dirty="0"/>
              <a:t>Sample dataset</a:t>
            </a:r>
          </a:p>
          <a:p>
            <a:pPr>
              <a:buNone/>
            </a:pPr>
            <a:r>
              <a:rPr lang="en-IN" dirty="0"/>
              <a:t>Run constraint tests</a:t>
            </a:r>
          </a:p>
          <a:p>
            <a:pPr>
              <a:buNone/>
            </a:pPr>
            <a:r>
              <a:rPr lang="en-IN" dirty="0"/>
              <a:t>Select "Run constraint tests" to identify records that violate the dataset rules.</a:t>
            </a:r>
          </a:p>
        </p:txBody>
      </p:sp>
    </p:spTree>
    <p:extLst>
      <p:ext uri="{BB962C8B-B14F-4D97-AF65-F5344CB8AC3E}">
        <p14:creationId xmlns:p14="http://schemas.microsoft.com/office/powerpoint/2010/main" val="1617544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322607-1DF0-8FA7-FFF1-8CC2ED117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2EDE62D-21B3-E4D4-C8A3-82B8A23E9271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27F4063-3DBC-A9EF-6190-4181C4689CBA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68EE91-D26D-8158-9C37-CC58483CBC7B}"/>
              </a:ext>
            </a:extLst>
          </p:cNvPr>
          <p:cNvSpPr txBox="1"/>
          <p:nvPr/>
        </p:nvSpPr>
        <p:spPr>
          <a:xfrm>
            <a:off x="530352" y="393192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5.1.5 Dataset Constraint Testing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EEDD17-E01B-1EFE-62C5-BE6AF4C69201}"/>
              </a:ext>
            </a:extLst>
          </p:cNvPr>
          <p:cNvSpPr txBox="1"/>
          <p:nvPr/>
        </p:nvSpPr>
        <p:spPr>
          <a:xfrm>
            <a:off x="1149470" y="1296239"/>
            <a:ext cx="8529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5335C8-9EB1-0D80-3DC1-6F6F1665BD2E}"/>
              </a:ext>
            </a:extLst>
          </p:cNvPr>
          <p:cNvSpPr txBox="1"/>
          <p:nvPr/>
        </p:nvSpPr>
        <p:spPr>
          <a:xfrm>
            <a:off x="830292" y="1368588"/>
            <a:ext cx="1021223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This example demonstrates how dataset constraint testing identifies incorrect values, missing information, and duplicate identifiers before the dataset is used for ML training.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Key Takeaway: Dataset constraint testing ensures that Machine Learning datasets follow predefined data quality rules. It uses single-value, multi-value, and comparison constraints to detect errors and inconsistencies. Automating these tests as part of the data pipeline helps prevent poor-quality data from affecting ML model training and predictions.</a:t>
            </a:r>
          </a:p>
        </p:txBody>
      </p:sp>
    </p:spTree>
    <p:extLst>
      <p:ext uri="{BB962C8B-B14F-4D97-AF65-F5344CB8AC3E}">
        <p14:creationId xmlns:p14="http://schemas.microsoft.com/office/powerpoint/2010/main" val="372393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FF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2834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YOU!!!</a:t>
            </a:r>
            <a:endParaRPr lang="en-US" sz="3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902</Words>
  <Application>Microsoft Office PowerPoint</Application>
  <PresentationFormat>Widescreen</PresentationFormat>
  <Paragraphs>141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Calculation of Machine Learning Functional Performance Metrics</dc:title>
  <dc:subject>ISTQB CT-AI 3.3.1</dc:subject>
  <dc:creator>OpenAI</dc:creator>
  <cp:lastModifiedBy>Anurag Patil</cp:lastModifiedBy>
  <cp:revision>31</cp:revision>
  <dcterms:created xsi:type="dcterms:W3CDTF">2026-10-14T05:21:37Z</dcterms:created>
  <dcterms:modified xsi:type="dcterms:W3CDTF">2026-10-19T05:55:28Z</dcterms:modified>
</cp:coreProperties>
</file>