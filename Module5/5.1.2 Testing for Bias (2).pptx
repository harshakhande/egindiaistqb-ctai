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72" r:id="rId2"/>
    <p:sldId id="273" r:id="rId3"/>
    <p:sldId id="274" r:id="rId4"/>
    <p:sldId id="270" r:id="rId5"/>
    <p:sldId id="269" r:id="rId6"/>
    <p:sldId id="268" r:id="rId7"/>
    <p:sldId id="267" r:id="rId8"/>
    <p:sldId id="265"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005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0C8B5-07F5-D987-9705-3AB6996402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12B87A-F4C1-89E7-5653-01FE17A06C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16610D-54DF-0449-D763-65B52387D6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C944C5-0993-4436-8405-4B0051FDB3E3}"/>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6120945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BE4A0-B19C-A3F8-2604-A438025EBA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1A13A4-B699-662E-87AC-413D184E3E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306C27-666C-3A6C-6BFD-00F060162F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DA2CF0-1791-3B26-0182-6F69AB49358B}"/>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571799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6B876-E748-7561-4518-507534B5DA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8BAEE9-9646-BB2A-414B-447BF6918F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B9E0B3-7858-5248-BF46-02684D136F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4AB1D1-D614-0626-C76E-E04F2D771BB9}"/>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929959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8C270-FAB4-7432-CFDB-8EAE0A7321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20E910-1907-123B-B396-10B1DE9B10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BA08F9-77A7-A2CA-549E-00062C7C2D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39814D-5AC4-18C0-7300-9043BA763AEA}"/>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5721107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53C8F-755E-9886-275E-3D71FD8EEF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784B6A-8040-E139-84CA-5C25352F15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D318F9-9CD8-02A6-642A-84097B9A6F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1AAE3F-D5C7-9492-6CED-DDAAC3D31E5D}"/>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730833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A070A-5E94-B8BA-3B9D-088FC6FB32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AB44AC-A8C1-C13F-A60D-6D836B54AB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1E42E-913B-A3C3-EFB0-64304DDDC9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49DB77-9EDB-8C13-E489-02E6DFB058DC}"/>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8599776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CD6F8-52F4-C24A-02E0-0BCF645CD3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7A8360-5CAC-768F-FE43-456E86C9A2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B9DC2F-193A-65D0-F961-7024792BFC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5D4544-D77E-CFAC-A6BC-94CCAC328DC9}"/>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345781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FFDED"/>
        </a:solidFill>
        <a:effectLst/>
      </p:bgPr>
    </p:bg>
    <p:spTree>
      <p:nvGrpSpPr>
        <p:cNvPr id="1" name="">
          <a:extLst>
            <a:ext uri="{FF2B5EF4-FFF2-40B4-BE49-F238E27FC236}">
              <a16:creationId xmlns:a16="http://schemas.microsoft.com/office/drawing/2014/main" id="{1E7247DB-2E79-25B6-00C3-17D0F2440C5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F6DE1BA-285E-A173-848C-38700386EB0A}"/>
              </a:ext>
            </a:extLst>
          </p:cNvPr>
          <p:cNvSpPr/>
          <p:nvPr/>
        </p:nvSpPr>
        <p:spPr>
          <a:xfrm>
            <a:off x="530352" y="393192"/>
            <a:ext cx="11109960" cy="475488"/>
          </a:xfrm>
          <a:prstGeom prst="rect">
            <a:avLst/>
          </a:prstGeom>
          <a:noFill/>
          <a:ln/>
        </p:spPr>
        <p:txBody>
          <a:bodyPr wrap="square" lIns="0" tIns="0" rIns="0" bIns="0" rtlCol="0" anchor="ctr"/>
          <a:lstStyle/>
          <a:p>
            <a:pPr marL="0" indent="0">
              <a:buNone/>
            </a:pPr>
            <a:endParaRPr lang="en-US" sz="2700" dirty="0"/>
          </a:p>
        </p:txBody>
      </p:sp>
      <p:sp>
        <p:nvSpPr>
          <p:cNvPr id="3" name="Shape 1">
            <a:extLst>
              <a:ext uri="{FF2B5EF4-FFF2-40B4-BE49-F238E27FC236}">
                <a16:creationId xmlns:a16="http://schemas.microsoft.com/office/drawing/2014/main" id="{7C9A9FF2-DA68-9322-45C7-63A647E5CD55}"/>
              </a:ext>
            </a:extLst>
          </p:cNvPr>
          <p:cNvSpPr/>
          <p:nvPr/>
        </p:nvSpPr>
        <p:spPr>
          <a:xfrm>
            <a:off x="530352" y="941832"/>
            <a:ext cx="10515600" cy="0"/>
          </a:xfrm>
          <a:prstGeom prst="line">
            <a:avLst/>
          </a:prstGeom>
          <a:noFill/>
          <a:ln w="8255">
            <a:solidFill>
              <a:srgbClr val="454545"/>
            </a:solidFill>
            <a:prstDash val="solid"/>
          </a:ln>
        </p:spPr>
      </p:sp>
      <p:sp>
        <p:nvSpPr>
          <p:cNvPr id="9" name="TextBox 8">
            <a:extLst>
              <a:ext uri="{FF2B5EF4-FFF2-40B4-BE49-F238E27FC236}">
                <a16:creationId xmlns:a16="http://schemas.microsoft.com/office/drawing/2014/main" id="{B95E8C02-27CC-5CDC-276F-CD4DEE526DEA}"/>
              </a:ext>
            </a:extLst>
          </p:cNvPr>
          <p:cNvSpPr txBox="1"/>
          <p:nvPr/>
        </p:nvSpPr>
        <p:spPr>
          <a:xfrm>
            <a:off x="530352" y="393192"/>
            <a:ext cx="6094562" cy="461665"/>
          </a:xfrm>
          <a:prstGeom prst="rect">
            <a:avLst/>
          </a:prstGeom>
          <a:noFill/>
        </p:spPr>
        <p:txBody>
          <a:bodyPr wrap="square">
            <a:spAutoFit/>
          </a:bodyPr>
          <a:lstStyle/>
          <a:p>
            <a:r>
              <a:rPr lang="en-IN" sz="2400" dirty="0"/>
              <a:t>5.1.2 Testing for Bias</a:t>
            </a:r>
          </a:p>
        </p:txBody>
      </p:sp>
      <p:sp>
        <p:nvSpPr>
          <p:cNvPr id="11" name="TextBox 10">
            <a:extLst>
              <a:ext uri="{FF2B5EF4-FFF2-40B4-BE49-F238E27FC236}">
                <a16:creationId xmlns:a16="http://schemas.microsoft.com/office/drawing/2014/main" id="{A64D834A-7809-1642-C376-FC5D8BDCBA34}"/>
              </a:ext>
            </a:extLst>
          </p:cNvPr>
          <p:cNvSpPr txBox="1"/>
          <p:nvPr/>
        </p:nvSpPr>
        <p:spPr>
          <a:xfrm>
            <a:off x="1149470" y="1296239"/>
            <a:ext cx="8529368" cy="369332"/>
          </a:xfrm>
          <a:prstGeom prst="rect">
            <a:avLst/>
          </a:prstGeom>
          <a:noFill/>
        </p:spPr>
        <p:txBody>
          <a:bodyPr wrap="square">
            <a:spAutoFit/>
          </a:bodyPr>
          <a:lstStyle/>
          <a:p>
            <a:pPr>
              <a:buNone/>
            </a:pPr>
            <a:endParaRPr lang="en-IN" dirty="0"/>
          </a:p>
        </p:txBody>
      </p:sp>
      <p:pic>
        <p:nvPicPr>
          <p:cNvPr id="6" name="Picture 5">
            <a:extLst>
              <a:ext uri="{FF2B5EF4-FFF2-40B4-BE49-F238E27FC236}">
                <a16:creationId xmlns:a16="http://schemas.microsoft.com/office/drawing/2014/main" id="{09833A10-5F57-5E4C-A67F-D4DC1AD885D8}"/>
              </a:ext>
            </a:extLst>
          </p:cNvPr>
          <p:cNvPicPr>
            <a:picLocks noChangeAspect="1"/>
          </p:cNvPicPr>
          <p:nvPr/>
        </p:nvPicPr>
        <p:blipFill>
          <a:blip r:embed="rId3"/>
          <a:stretch>
            <a:fillRect/>
          </a:stretch>
        </p:blipFill>
        <p:spPr>
          <a:xfrm>
            <a:off x="994194" y="1296239"/>
            <a:ext cx="8381281" cy="4932032"/>
          </a:xfrm>
          <a:prstGeom prst="rect">
            <a:avLst/>
          </a:prstGeom>
        </p:spPr>
      </p:pic>
    </p:spTree>
    <p:extLst>
      <p:ext uri="{BB962C8B-B14F-4D97-AF65-F5344CB8AC3E}">
        <p14:creationId xmlns:p14="http://schemas.microsoft.com/office/powerpoint/2010/main" val="2415722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FFDED"/>
        </a:solidFill>
        <a:effectLst/>
      </p:bgPr>
    </p:bg>
    <p:spTree>
      <p:nvGrpSpPr>
        <p:cNvPr id="1" name="">
          <a:extLst>
            <a:ext uri="{FF2B5EF4-FFF2-40B4-BE49-F238E27FC236}">
              <a16:creationId xmlns:a16="http://schemas.microsoft.com/office/drawing/2014/main" id="{6C322273-F927-92BA-3E26-0513C483037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DF4DA13-FE7F-06C3-5943-B47C6DB7CBC6}"/>
              </a:ext>
            </a:extLst>
          </p:cNvPr>
          <p:cNvSpPr/>
          <p:nvPr/>
        </p:nvSpPr>
        <p:spPr>
          <a:xfrm>
            <a:off x="530352" y="393192"/>
            <a:ext cx="11109960" cy="475488"/>
          </a:xfrm>
          <a:prstGeom prst="rect">
            <a:avLst/>
          </a:prstGeom>
          <a:noFill/>
          <a:ln/>
        </p:spPr>
        <p:txBody>
          <a:bodyPr wrap="square" lIns="0" tIns="0" rIns="0" bIns="0" rtlCol="0" anchor="ctr"/>
          <a:lstStyle/>
          <a:p>
            <a:pPr marL="0" indent="0">
              <a:buNone/>
            </a:pPr>
            <a:endParaRPr lang="en-US" sz="2700" dirty="0"/>
          </a:p>
        </p:txBody>
      </p:sp>
      <p:sp>
        <p:nvSpPr>
          <p:cNvPr id="3" name="Shape 1">
            <a:extLst>
              <a:ext uri="{FF2B5EF4-FFF2-40B4-BE49-F238E27FC236}">
                <a16:creationId xmlns:a16="http://schemas.microsoft.com/office/drawing/2014/main" id="{D3D31C06-640E-3C42-336E-1CBB5E35482D}"/>
              </a:ext>
            </a:extLst>
          </p:cNvPr>
          <p:cNvSpPr/>
          <p:nvPr/>
        </p:nvSpPr>
        <p:spPr>
          <a:xfrm>
            <a:off x="530352" y="941832"/>
            <a:ext cx="10515600" cy="0"/>
          </a:xfrm>
          <a:prstGeom prst="line">
            <a:avLst/>
          </a:prstGeom>
          <a:noFill/>
          <a:ln w="8255">
            <a:solidFill>
              <a:srgbClr val="454545"/>
            </a:solidFill>
            <a:prstDash val="solid"/>
          </a:ln>
        </p:spPr>
      </p:sp>
      <p:sp>
        <p:nvSpPr>
          <p:cNvPr id="9" name="TextBox 8">
            <a:extLst>
              <a:ext uri="{FF2B5EF4-FFF2-40B4-BE49-F238E27FC236}">
                <a16:creationId xmlns:a16="http://schemas.microsoft.com/office/drawing/2014/main" id="{BFEA41CC-A74E-CB09-B403-B73C54893AEA}"/>
              </a:ext>
            </a:extLst>
          </p:cNvPr>
          <p:cNvSpPr txBox="1"/>
          <p:nvPr/>
        </p:nvSpPr>
        <p:spPr>
          <a:xfrm>
            <a:off x="530352" y="393192"/>
            <a:ext cx="6094562" cy="461665"/>
          </a:xfrm>
          <a:prstGeom prst="rect">
            <a:avLst/>
          </a:prstGeom>
          <a:noFill/>
        </p:spPr>
        <p:txBody>
          <a:bodyPr wrap="square">
            <a:spAutoFit/>
          </a:bodyPr>
          <a:lstStyle/>
          <a:p>
            <a:r>
              <a:rPr lang="en-IN" sz="2400" dirty="0"/>
              <a:t>5.1.2 Testing for Bias</a:t>
            </a:r>
          </a:p>
        </p:txBody>
      </p:sp>
      <p:sp>
        <p:nvSpPr>
          <p:cNvPr id="11" name="TextBox 10">
            <a:extLst>
              <a:ext uri="{FF2B5EF4-FFF2-40B4-BE49-F238E27FC236}">
                <a16:creationId xmlns:a16="http://schemas.microsoft.com/office/drawing/2014/main" id="{6C2D01CD-0970-A477-12FC-72265DFE82F1}"/>
              </a:ext>
            </a:extLst>
          </p:cNvPr>
          <p:cNvSpPr txBox="1"/>
          <p:nvPr/>
        </p:nvSpPr>
        <p:spPr>
          <a:xfrm>
            <a:off x="1149470" y="1296239"/>
            <a:ext cx="8529368" cy="369332"/>
          </a:xfrm>
          <a:prstGeom prst="rect">
            <a:avLst/>
          </a:prstGeom>
          <a:noFill/>
        </p:spPr>
        <p:txBody>
          <a:bodyPr wrap="square">
            <a:spAutoFit/>
          </a:bodyPr>
          <a:lstStyle/>
          <a:p>
            <a:pPr>
              <a:buNone/>
            </a:pPr>
            <a:endParaRPr lang="en-IN" dirty="0"/>
          </a:p>
        </p:txBody>
      </p:sp>
      <p:pic>
        <p:nvPicPr>
          <p:cNvPr id="6" name="Picture 5">
            <a:extLst>
              <a:ext uri="{FF2B5EF4-FFF2-40B4-BE49-F238E27FC236}">
                <a16:creationId xmlns:a16="http://schemas.microsoft.com/office/drawing/2014/main" id="{9218513B-40F0-5A04-8B99-6ED8D14AC38B}"/>
              </a:ext>
            </a:extLst>
          </p:cNvPr>
          <p:cNvPicPr>
            <a:picLocks noChangeAspect="1"/>
          </p:cNvPicPr>
          <p:nvPr/>
        </p:nvPicPr>
        <p:blipFill>
          <a:blip r:embed="rId3"/>
          <a:stretch>
            <a:fillRect/>
          </a:stretch>
        </p:blipFill>
        <p:spPr>
          <a:xfrm>
            <a:off x="947270" y="1014985"/>
            <a:ext cx="9913387" cy="5629425"/>
          </a:xfrm>
          <a:prstGeom prst="rect">
            <a:avLst/>
          </a:prstGeom>
        </p:spPr>
      </p:pic>
    </p:spTree>
    <p:extLst>
      <p:ext uri="{BB962C8B-B14F-4D97-AF65-F5344CB8AC3E}">
        <p14:creationId xmlns:p14="http://schemas.microsoft.com/office/powerpoint/2010/main" val="1626043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FFDED"/>
        </a:solidFill>
        <a:effectLst/>
      </p:bgPr>
    </p:bg>
    <p:spTree>
      <p:nvGrpSpPr>
        <p:cNvPr id="1" name="">
          <a:extLst>
            <a:ext uri="{FF2B5EF4-FFF2-40B4-BE49-F238E27FC236}">
              <a16:creationId xmlns:a16="http://schemas.microsoft.com/office/drawing/2014/main" id="{8B910C75-2BAB-0AFC-68B6-2B3A94C4DE0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2777C2F-62A5-9B0E-8C8A-2C24692FC9CC}"/>
              </a:ext>
            </a:extLst>
          </p:cNvPr>
          <p:cNvSpPr/>
          <p:nvPr/>
        </p:nvSpPr>
        <p:spPr>
          <a:xfrm>
            <a:off x="530352" y="393192"/>
            <a:ext cx="11109960" cy="475488"/>
          </a:xfrm>
          <a:prstGeom prst="rect">
            <a:avLst/>
          </a:prstGeom>
          <a:noFill/>
          <a:ln/>
        </p:spPr>
        <p:txBody>
          <a:bodyPr wrap="square" lIns="0" tIns="0" rIns="0" bIns="0" rtlCol="0" anchor="ctr"/>
          <a:lstStyle/>
          <a:p>
            <a:pPr marL="0" indent="0">
              <a:buNone/>
            </a:pPr>
            <a:endParaRPr lang="en-US" sz="2700" dirty="0"/>
          </a:p>
        </p:txBody>
      </p:sp>
      <p:sp>
        <p:nvSpPr>
          <p:cNvPr id="3" name="Shape 1">
            <a:extLst>
              <a:ext uri="{FF2B5EF4-FFF2-40B4-BE49-F238E27FC236}">
                <a16:creationId xmlns:a16="http://schemas.microsoft.com/office/drawing/2014/main" id="{B23BB1AC-218E-4FE0-C127-E6C91BFED884}"/>
              </a:ext>
            </a:extLst>
          </p:cNvPr>
          <p:cNvSpPr/>
          <p:nvPr/>
        </p:nvSpPr>
        <p:spPr>
          <a:xfrm>
            <a:off x="530352" y="941832"/>
            <a:ext cx="10515600" cy="0"/>
          </a:xfrm>
          <a:prstGeom prst="line">
            <a:avLst/>
          </a:prstGeom>
          <a:noFill/>
          <a:ln w="8255">
            <a:solidFill>
              <a:srgbClr val="454545"/>
            </a:solidFill>
            <a:prstDash val="solid"/>
          </a:ln>
        </p:spPr>
      </p:sp>
      <p:sp>
        <p:nvSpPr>
          <p:cNvPr id="9" name="TextBox 8">
            <a:extLst>
              <a:ext uri="{FF2B5EF4-FFF2-40B4-BE49-F238E27FC236}">
                <a16:creationId xmlns:a16="http://schemas.microsoft.com/office/drawing/2014/main" id="{0FED798F-DD2B-D15A-55E9-D8F83C45BF2E}"/>
              </a:ext>
            </a:extLst>
          </p:cNvPr>
          <p:cNvSpPr txBox="1"/>
          <p:nvPr/>
        </p:nvSpPr>
        <p:spPr>
          <a:xfrm>
            <a:off x="530352" y="393192"/>
            <a:ext cx="6094562" cy="461665"/>
          </a:xfrm>
          <a:prstGeom prst="rect">
            <a:avLst/>
          </a:prstGeom>
          <a:noFill/>
        </p:spPr>
        <p:txBody>
          <a:bodyPr wrap="square">
            <a:spAutoFit/>
          </a:bodyPr>
          <a:lstStyle/>
          <a:p>
            <a:r>
              <a:rPr lang="en-IN" sz="2400" dirty="0"/>
              <a:t>5.1.2 Testing for Bias</a:t>
            </a:r>
          </a:p>
        </p:txBody>
      </p:sp>
      <p:sp>
        <p:nvSpPr>
          <p:cNvPr id="11" name="TextBox 10">
            <a:extLst>
              <a:ext uri="{FF2B5EF4-FFF2-40B4-BE49-F238E27FC236}">
                <a16:creationId xmlns:a16="http://schemas.microsoft.com/office/drawing/2014/main" id="{3B97DC9C-2254-BAF6-4978-EE7BA551978A}"/>
              </a:ext>
            </a:extLst>
          </p:cNvPr>
          <p:cNvSpPr txBox="1"/>
          <p:nvPr/>
        </p:nvSpPr>
        <p:spPr>
          <a:xfrm>
            <a:off x="1149470" y="1296239"/>
            <a:ext cx="8529368" cy="369332"/>
          </a:xfrm>
          <a:prstGeom prst="rect">
            <a:avLst/>
          </a:prstGeom>
          <a:noFill/>
        </p:spPr>
        <p:txBody>
          <a:bodyPr wrap="square">
            <a:spAutoFit/>
          </a:bodyPr>
          <a:lstStyle/>
          <a:p>
            <a:pPr>
              <a:buNone/>
            </a:pPr>
            <a:endParaRPr lang="en-IN" dirty="0"/>
          </a:p>
        </p:txBody>
      </p:sp>
      <p:sp>
        <p:nvSpPr>
          <p:cNvPr id="5" name="TextBox 4">
            <a:extLst>
              <a:ext uri="{FF2B5EF4-FFF2-40B4-BE49-F238E27FC236}">
                <a16:creationId xmlns:a16="http://schemas.microsoft.com/office/drawing/2014/main" id="{D3F8FFC0-38C6-7DAA-0A79-0028D6FF9D65}"/>
              </a:ext>
            </a:extLst>
          </p:cNvPr>
          <p:cNvSpPr txBox="1"/>
          <p:nvPr/>
        </p:nvSpPr>
        <p:spPr>
          <a:xfrm>
            <a:off x="994194" y="1206663"/>
            <a:ext cx="9029700" cy="3693319"/>
          </a:xfrm>
          <a:prstGeom prst="rect">
            <a:avLst/>
          </a:prstGeom>
          <a:noFill/>
        </p:spPr>
        <p:txBody>
          <a:bodyPr wrap="square">
            <a:spAutoFit/>
          </a:bodyPr>
          <a:lstStyle/>
          <a:p>
            <a:pPr>
              <a:buNone/>
            </a:pPr>
            <a:r>
              <a:rPr lang="en-IN" b="1" dirty="0"/>
              <a:t>Test Approaches for Detecting Bias</a:t>
            </a:r>
          </a:p>
          <a:p>
            <a:pPr>
              <a:buNone/>
            </a:pPr>
            <a:endParaRPr lang="en-IN" b="1" dirty="0"/>
          </a:p>
          <a:p>
            <a:pPr>
              <a:buNone/>
            </a:pPr>
            <a:r>
              <a:rPr lang="en-IN" dirty="0"/>
              <a:t>The following testing approaches can be used to identify bias in Machine Learning Systems.</a:t>
            </a:r>
          </a:p>
          <a:p>
            <a:pPr marL="342900" indent="-342900">
              <a:buAutoNum type="arabicPeriod"/>
            </a:pPr>
            <a:r>
              <a:rPr lang="en-IN" dirty="0"/>
              <a:t>Review of the ML Workflow</a:t>
            </a:r>
          </a:p>
          <a:p>
            <a:pPr marL="342900" indent="-342900">
              <a:buAutoNum type="arabicPeriod"/>
            </a:pPr>
            <a:endParaRPr lang="en-IN" dirty="0"/>
          </a:p>
          <a:p>
            <a:pPr>
              <a:buNone/>
            </a:pPr>
            <a:r>
              <a:rPr lang="en-IN" dirty="0"/>
              <a:t>Review the complete machine learning workflow, particularly the data preparation process, to identify activities that may introduce bias into the system.</a:t>
            </a:r>
          </a:p>
          <a:p>
            <a:pPr>
              <a:buNone/>
            </a:pPr>
            <a:endParaRPr lang="en-IN" dirty="0"/>
          </a:p>
          <a:p>
            <a:pPr>
              <a:buNone/>
            </a:pPr>
            <a:r>
              <a:rPr lang="en-IN" dirty="0"/>
              <a:t>2. Review of Dataset Documentation</a:t>
            </a:r>
          </a:p>
          <a:p>
            <a:pPr>
              <a:buNone/>
            </a:pPr>
            <a:endParaRPr lang="en-IN" dirty="0"/>
          </a:p>
          <a:p>
            <a:pPr>
              <a:buNone/>
            </a:pPr>
            <a:r>
              <a:rPr lang="en-IN" dirty="0"/>
              <a:t>Examine dataset documentation to understand how the data was collected, annotated, and prepared. Check whether different population groups are adequately represented and identify potential sources of unfairness.</a:t>
            </a:r>
          </a:p>
        </p:txBody>
      </p:sp>
    </p:spTree>
    <p:extLst>
      <p:ext uri="{BB962C8B-B14F-4D97-AF65-F5344CB8AC3E}">
        <p14:creationId xmlns:p14="http://schemas.microsoft.com/office/powerpoint/2010/main" val="69027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FFDED"/>
        </a:solidFill>
        <a:effectLst/>
      </p:bgPr>
    </p:bg>
    <p:spTree>
      <p:nvGrpSpPr>
        <p:cNvPr id="1" name="">
          <a:extLst>
            <a:ext uri="{FF2B5EF4-FFF2-40B4-BE49-F238E27FC236}">
              <a16:creationId xmlns:a16="http://schemas.microsoft.com/office/drawing/2014/main" id="{FE494657-5ADD-4255-9589-64903A0293E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5C58294-8DE9-8A05-B2F6-859E2CA43E3C}"/>
              </a:ext>
            </a:extLst>
          </p:cNvPr>
          <p:cNvSpPr/>
          <p:nvPr/>
        </p:nvSpPr>
        <p:spPr>
          <a:xfrm>
            <a:off x="530352" y="393192"/>
            <a:ext cx="11109960" cy="475488"/>
          </a:xfrm>
          <a:prstGeom prst="rect">
            <a:avLst/>
          </a:prstGeom>
          <a:noFill/>
          <a:ln/>
        </p:spPr>
        <p:txBody>
          <a:bodyPr wrap="square" lIns="0" tIns="0" rIns="0" bIns="0" rtlCol="0" anchor="ctr"/>
          <a:lstStyle/>
          <a:p>
            <a:pPr marL="0" indent="0">
              <a:buNone/>
            </a:pPr>
            <a:endParaRPr lang="en-US" sz="2700" dirty="0"/>
          </a:p>
        </p:txBody>
      </p:sp>
      <p:sp>
        <p:nvSpPr>
          <p:cNvPr id="3" name="Shape 1">
            <a:extLst>
              <a:ext uri="{FF2B5EF4-FFF2-40B4-BE49-F238E27FC236}">
                <a16:creationId xmlns:a16="http://schemas.microsoft.com/office/drawing/2014/main" id="{D4B51D10-85A1-59AE-9CEC-68F7DFA1F73F}"/>
              </a:ext>
            </a:extLst>
          </p:cNvPr>
          <p:cNvSpPr/>
          <p:nvPr/>
        </p:nvSpPr>
        <p:spPr>
          <a:xfrm>
            <a:off x="530352" y="941832"/>
            <a:ext cx="10515600" cy="0"/>
          </a:xfrm>
          <a:prstGeom prst="line">
            <a:avLst/>
          </a:prstGeom>
          <a:noFill/>
          <a:ln w="8255">
            <a:solidFill>
              <a:srgbClr val="454545"/>
            </a:solidFill>
            <a:prstDash val="solid"/>
          </a:ln>
        </p:spPr>
      </p:sp>
      <p:sp>
        <p:nvSpPr>
          <p:cNvPr id="9" name="TextBox 8">
            <a:extLst>
              <a:ext uri="{FF2B5EF4-FFF2-40B4-BE49-F238E27FC236}">
                <a16:creationId xmlns:a16="http://schemas.microsoft.com/office/drawing/2014/main" id="{3320EFFC-A34C-DB72-4869-5F995E2153E0}"/>
              </a:ext>
            </a:extLst>
          </p:cNvPr>
          <p:cNvSpPr txBox="1"/>
          <p:nvPr/>
        </p:nvSpPr>
        <p:spPr>
          <a:xfrm>
            <a:off x="530352" y="393192"/>
            <a:ext cx="6094562" cy="461665"/>
          </a:xfrm>
          <a:prstGeom prst="rect">
            <a:avLst/>
          </a:prstGeom>
          <a:noFill/>
        </p:spPr>
        <p:txBody>
          <a:bodyPr wrap="square">
            <a:spAutoFit/>
          </a:bodyPr>
          <a:lstStyle/>
          <a:p>
            <a:r>
              <a:rPr lang="en-IN" sz="2400" dirty="0"/>
              <a:t>5.1.2 Testing for Bias</a:t>
            </a:r>
          </a:p>
        </p:txBody>
      </p:sp>
      <p:sp>
        <p:nvSpPr>
          <p:cNvPr id="11" name="TextBox 10">
            <a:extLst>
              <a:ext uri="{FF2B5EF4-FFF2-40B4-BE49-F238E27FC236}">
                <a16:creationId xmlns:a16="http://schemas.microsoft.com/office/drawing/2014/main" id="{9C77E4A9-B992-0EA2-1877-7B32B7F1F49F}"/>
              </a:ext>
            </a:extLst>
          </p:cNvPr>
          <p:cNvSpPr txBox="1"/>
          <p:nvPr/>
        </p:nvSpPr>
        <p:spPr>
          <a:xfrm>
            <a:off x="1149470" y="1296239"/>
            <a:ext cx="8529368" cy="369332"/>
          </a:xfrm>
          <a:prstGeom prst="rect">
            <a:avLst/>
          </a:prstGeom>
          <a:noFill/>
        </p:spPr>
        <p:txBody>
          <a:bodyPr wrap="square">
            <a:spAutoFit/>
          </a:bodyPr>
          <a:lstStyle/>
          <a:p>
            <a:pPr>
              <a:buNone/>
            </a:pPr>
            <a:endParaRPr lang="en-IN" dirty="0"/>
          </a:p>
        </p:txBody>
      </p:sp>
      <p:sp>
        <p:nvSpPr>
          <p:cNvPr id="5" name="TextBox 4">
            <a:extLst>
              <a:ext uri="{FF2B5EF4-FFF2-40B4-BE49-F238E27FC236}">
                <a16:creationId xmlns:a16="http://schemas.microsoft.com/office/drawing/2014/main" id="{1CF88C19-1399-95BB-6787-E82AC4CFDF5B}"/>
              </a:ext>
            </a:extLst>
          </p:cNvPr>
          <p:cNvSpPr txBox="1"/>
          <p:nvPr/>
        </p:nvSpPr>
        <p:spPr>
          <a:xfrm>
            <a:off x="1149469" y="1226274"/>
            <a:ext cx="9762945" cy="5355312"/>
          </a:xfrm>
          <a:prstGeom prst="rect">
            <a:avLst/>
          </a:prstGeom>
          <a:noFill/>
        </p:spPr>
        <p:txBody>
          <a:bodyPr wrap="square">
            <a:spAutoFit/>
          </a:bodyPr>
          <a:lstStyle/>
          <a:p>
            <a:pPr>
              <a:buNone/>
            </a:pPr>
            <a:r>
              <a:rPr lang="en-IN" b="1" dirty="0"/>
              <a:t>3. Static Analysis</a:t>
            </a:r>
          </a:p>
          <a:p>
            <a:pPr>
              <a:buNone/>
            </a:pPr>
            <a:endParaRPr lang="en-IN" dirty="0"/>
          </a:p>
          <a:p>
            <a:pPr>
              <a:buNone/>
            </a:pPr>
            <a:r>
              <a:rPr lang="en-IN" dirty="0"/>
              <a:t>Perform static analysis of data preparation programs and model implementation code to identify coding anti-patterns, incorrect data handling, or improper use of sensitive attributes that may introduce bias.</a:t>
            </a:r>
          </a:p>
          <a:p>
            <a:pPr>
              <a:buNone/>
            </a:pPr>
            <a:endParaRPr lang="en-IN" dirty="0"/>
          </a:p>
          <a:p>
            <a:pPr>
              <a:buNone/>
            </a:pPr>
            <a:r>
              <a:rPr lang="en-IN" b="1" dirty="0"/>
              <a:t>4. Exploratory Data Analysis (EDA)</a:t>
            </a:r>
          </a:p>
          <a:p>
            <a:pPr>
              <a:buNone/>
            </a:pPr>
            <a:endParaRPr lang="en-IN" dirty="0"/>
          </a:p>
          <a:p>
            <a:pPr>
              <a:buNone/>
            </a:pPr>
            <a:r>
              <a:rPr lang="en-IN" dirty="0"/>
              <a:t>Use data visualization and clustering techniques to </a:t>
            </a:r>
            <a:r>
              <a:rPr lang="en-IN" dirty="0" err="1"/>
              <a:t>analyze</a:t>
            </a:r>
            <a:r>
              <a:rPr lang="en-IN" dirty="0"/>
              <a:t> training datasets. These techniques help identify imbalanced data, skewed distributions, and unusual groupings associated with sensitive attributes such as gender, age, or race.</a:t>
            </a:r>
          </a:p>
          <a:p>
            <a:pPr>
              <a:buNone/>
            </a:pPr>
            <a:endParaRPr lang="en-IN" dirty="0"/>
          </a:p>
          <a:p>
            <a:pPr>
              <a:buNone/>
            </a:pPr>
            <a:r>
              <a:rPr lang="en-IN" b="1" dirty="0"/>
              <a:t>5. Dynamic Testing</a:t>
            </a:r>
          </a:p>
          <a:p>
            <a:pPr>
              <a:buNone/>
            </a:pPr>
            <a:endParaRPr lang="en-IN" dirty="0"/>
          </a:p>
          <a:p>
            <a:pPr>
              <a:buNone/>
            </a:pPr>
            <a:r>
              <a:rPr lang="en-IN" dirty="0"/>
              <a:t>Dynamic testing helps detect bias by providing the ML model with a known, unbiased, and representative dataset.</a:t>
            </a:r>
          </a:p>
          <a:p>
            <a:pPr>
              <a:buNone/>
            </a:pPr>
            <a:r>
              <a:rPr lang="en-IN" dirty="0"/>
              <a:t>The model's predictions are then </a:t>
            </a:r>
            <a:r>
              <a:rPr lang="en-IN" dirty="0" err="1"/>
              <a:t>analyzed</a:t>
            </a:r>
            <a:r>
              <a:rPr lang="en-IN" dirty="0"/>
              <a:t> to identify statistically significant differences in outcomes across sensitive groups. This approach helps detect bias in model outputs, regardless of whether it originated from training data or model development.</a:t>
            </a:r>
          </a:p>
        </p:txBody>
      </p:sp>
    </p:spTree>
    <p:extLst>
      <p:ext uri="{BB962C8B-B14F-4D97-AF65-F5344CB8AC3E}">
        <p14:creationId xmlns:p14="http://schemas.microsoft.com/office/powerpoint/2010/main" val="2306432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FFDED"/>
        </a:solidFill>
        <a:effectLst/>
      </p:bgPr>
    </p:bg>
    <p:spTree>
      <p:nvGrpSpPr>
        <p:cNvPr id="1" name="">
          <a:extLst>
            <a:ext uri="{FF2B5EF4-FFF2-40B4-BE49-F238E27FC236}">
              <a16:creationId xmlns:a16="http://schemas.microsoft.com/office/drawing/2014/main" id="{33B25DEE-1FBF-C186-F8DD-8B0F8EDD61E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AB3F45F-D07A-7320-8047-0A3371F9370F}"/>
              </a:ext>
            </a:extLst>
          </p:cNvPr>
          <p:cNvSpPr/>
          <p:nvPr/>
        </p:nvSpPr>
        <p:spPr>
          <a:xfrm>
            <a:off x="530352" y="393192"/>
            <a:ext cx="11109960" cy="475488"/>
          </a:xfrm>
          <a:prstGeom prst="rect">
            <a:avLst/>
          </a:prstGeom>
          <a:noFill/>
          <a:ln/>
        </p:spPr>
        <p:txBody>
          <a:bodyPr wrap="square" lIns="0" tIns="0" rIns="0" bIns="0" rtlCol="0" anchor="ctr"/>
          <a:lstStyle/>
          <a:p>
            <a:pPr marL="0" indent="0">
              <a:buNone/>
            </a:pPr>
            <a:endParaRPr lang="en-US" sz="2700" dirty="0"/>
          </a:p>
        </p:txBody>
      </p:sp>
      <p:sp>
        <p:nvSpPr>
          <p:cNvPr id="3" name="Shape 1">
            <a:extLst>
              <a:ext uri="{FF2B5EF4-FFF2-40B4-BE49-F238E27FC236}">
                <a16:creationId xmlns:a16="http://schemas.microsoft.com/office/drawing/2014/main" id="{F436A38F-D7CA-122C-CB4E-E47B919E57AB}"/>
              </a:ext>
            </a:extLst>
          </p:cNvPr>
          <p:cNvSpPr/>
          <p:nvPr/>
        </p:nvSpPr>
        <p:spPr>
          <a:xfrm>
            <a:off x="530352" y="941832"/>
            <a:ext cx="10515600" cy="0"/>
          </a:xfrm>
          <a:prstGeom prst="line">
            <a:avLst/>
          </a:prstGeom>
          <a:noFill/>
          <a:ln w="8255">
            <a:solidFill>
              <a:srgbClr val="454545"/>
            </a:solidFill>
            <a:prstDash val="solid"/>
          </a:ln>
        </p:spPr>
      </p:sp>
      <p:sp>
        <p:nvSpPr>
          <p:cNvPr id="9" name="TextBox 8">
            <a:extLst>
              <a:ext uri="{FF2B5EF4-FFF2-40B4-BE49-F238E27FC236}">
                <a16:creationId xmlns:a16="http://schemas.microsoft.com/office/drawing/2014/main" id="{3295A187-4FA9-5117-07DE-E071E92C487C}"/>
              </a:ext>
            </a:extLst>
          </p:cNvPr>
          <p:cNvSpPr txBox="1"/>
          <p:nvPr/>
        </p:nvSpPr>
        <p:spPr>
          <a:xfrm>
            <a:off x="530352" y="393192"/>
            <a:ext cx="6094562" cy="461665"/>
          </a:xfrm>
          <a:prstGeom prst="rect">
            <a:avLst/>
          </a:prstGeom>
          <a:noFill/>
        </p:spPr>
        <p:txBody>
          <a:bodyPr wrap="square">
            <a:spAutoFit/>
          </a:bodyPr>
          <a:lstStyle/>
          <a:p>
            <a:r>
              <a:rPr lang="en-IN" sz="2400" dirty="0"/>
              <a:t>5.1.2 Testing for Bias</a:t>
            </a:r>
          </a:p>
        </p:txBody>
      </p:sp>
      <p:sp>
        <p:nvSpPr>
          <p:cNvPr id="11" name="TextBox 10">
            <a:extLst>
              <a:ext uri="{FF2B5EF4-FFF2-40B4-BE49-F238E27FC236}">
                <a16:creationId xmlns:a16="http://schemas.microsoft.com/office/drawing/2014/main" id="{280591B0-7F85-F39C-C61D-A8E3D70EE549}"/>
              </a:ext>
            </a:extLst>
          </p:cNvPr>
          <p:cNvSpPr txBox="1"/>
          <p:nvPr/>
        </p:nvSpPr>
        <p:spPr>
          <a:xfrm>
            <a:off x="1149470" y="1296239"/>
            <a:ext cx="8529368" cy="369332"/>
          </a:xfrm>
          <a:prstGeom prst="rect">
            <a:avLst/>
          </a:prstGeom>
          <a:noFill/>
        </p:spPr>
        <p:txBody>
          <a:bodyPr wrap="square">
            <a:spAutoFit/>
          </a:bodyPr>
          <a:lstStyle/>
          <a:p>
            <a:pPr>
              <a:buNone/>
            </a:pPr>
            <a:endParaRPr lang="en-IN" dirty="0"/>
          </a:p>
        </p:txBody>
      </p:sp>
      <p:sp>
        <p:nvSpPr>
          <p:cNvPr id="5" name="TextBox 4">
            <a:extLst>
              <a:ext uri="{FF2B5EF4-FFF2-40B4-BE49-F238E27FC236}">
                <a16:creationId xmlns:a16="http://schemas.microsoft.com/office/drawing/2014/main" id="{E5D741DA-1CD0-39C5-0CCA-264FE8C851E6}"/>
              </a:ext>
            </a:extLst>
          </p:cNvPr>
          <p:cNvSpPr txBox="1"/>
          <p:nvPr/>
        </p:nvSpPr>
        <p:spPr>
          <a:xfrm>
            <a:off x="631885" y="1521501"/>
            <a:ext cx="9236734" cy="2308324"/>
          </a:xfrm>
          <a:prstGeom prst="rect">
            <a:avLst/>
          </a:prstGeom>
          <a:noFill/>
        </p:spPr>
        <p:txBody>
          <a:bodyPr wrap="square">
            <a:spAutoFit/>
          </a:bodyPr>
          <a:lstStyle/>
          <a:p>
            <a:pPr>
              <a:buNone/>
            </a:pPr>
            <a:r>
              <a:rPr lang="en-IN" b="1" dirty="0"/>
              <a:t>6. Label Correctness Testing</a:t>
            </a:r>
          </a:p>
          <a:p>
            <a:pPr>
              <a:buNone/>
            </a:pPr>
            <a:endParaRPr lang="en-IN" dirty="0"/>
          </a:p>
          <a:p>
            <a:pPr>
              <a:buNone/>
            </a:pPr>
            <a:r>
              <a:rPr lang="en-IN" dirty="0"/>
              <a:t>Label correctness testing is performed to identify incorrectly </a:t>
            </a:r>
            <a:r>
              <a:rPr lang="en-IN" dirty="0" err="1"/>
              <a:t>labeled</a:t>
            </a:r>
            <a:r>
              <a:rPr lang="en-IN" dirty="0"/>
              <a:t> training data that may cause the ML model to learn incorrect relationships between sensitive attributes and predicted outcomes.</a:t>
            </a:r>
          </a:p>
          <a:p>
            <a:pPr>
              <a:buNone/>
            </a:pPr>
            <a:endParaRPr lang="en-IN" dirty="0"/>
          </a:p>
          <a:p>
            <a:pPr>
              <a:buNone/>
            </a:pPr>
            <a:r>
              <a:rPr lang="en-IN" dirty="0"/>
              <a:t>For example, incorrect labels in a recruitment dataset may cause a model to associate a particular gender with lower job suitability.</a:t>
            </a:r>
          </a:p>
        </p:txBody>
      </p:sp>
    </p:spTree>
    <p:extLst>
      <p:ext uri="{BB962C8B-B14F-4D97-AF65-F5344CB8AC3E}">
        <p14:creationId xmlns:p14="http://schemas.microsoft.com/office/powerpoint/2010/main" val="2668282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FFDED"/>
        </a:solidFill>
        <a:effectLst/>
      </p:bgPr>
    </p:bg>
    <p:spTree>
      <p:nvGrpSpPr>
        <p:cNvPr id="1" name="">
          <a:extLst>
            <a:ext uri="{FF2B5EF4-FFF2-40B4-BE49-F238E27FC236}">
              <a16:creationId xmlns:a16="http://schemas.microsoft.com/office/drawing/2014/main" id="{1A1B176B-2BBC-9244-35B2-86D422E7981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369FF81-F236-8D01-9282-C9C6528202BC}"/>
              </a:ext>
            </a:extLst>
          </p:cNvPr>
          <p:cNvSpPr/>
          <p:nvPr/>
        </p:nvSpPr>
        <p:spPr>
          <a:xfrm>
            <a:off x="530352" y="393192"/>
            <a:ext cx="11109960" cy="475488"/>
          </a:xfrm>
          <a:prstGeom prst="rect">
            <a:avLst/>
          </a:prstGeom>
          <a:noFill/>
          <a:ln/>
        </p:spPr>
        <p:txBody>
          <a:bodyPr wrap="square" lIns="0" tIns="0" rIns="0" bIns="0" rtlCol="0" anchor="ctr"/>
          <a:lstStyle/>
          <a:p>
            <a:pPr marL="0" indent="0">
              <a:buNone/>
            </a:pPr>
            <a:endParaRPr lang="en-US" sz="2700" dirty="0"/>
          </a:p>
        </p:txBody>
      </p:sp>
      <p:sp>
        <p:nvSpPr>
          <p:cNvPr id="3" name="Shape 1">
            <a:extLst>
              <a:ext uri="{FF2B5EF4-FFF2-40B4-BE49-F238E27FC236}">
                <a16:creationId xmlns:a16="http://schemas.microsoft.com/office/drawing/2014/main" id="{C8B8B57D-1C4C-4884-6449-608E6FA81592}"/>
              </a:ext>
            </a:extLst>
          </p:cNvPr>
          <p:cNvSpPr/>
          <p:nvPr/>
        </p:nvSpPr>
        <p:spPr>
          <a:xfrm>
            <a:off x="530352" y="941832"/>
            <a:ext cx="10515600" cy="0"/>
          </a:xfrm>
          <a:prstGeom prst="line">
            <a:avLst/>
          </a:prstGeom>
          <a:noFill/>
          <a:ln w="8255">
            <a:solidFill>
              <a:srgbClr val="454545"/>
            </a:solidFill>
            <a:prstDash val="solid"/>
          </a:ln>
        </p:spPr>
      </p:sp>
      <p:sp>
        <p:nvSpPr>
          <p:cNvPr id="9" name="TextBox 8">
            <a:extLst>
              <a:ext uri="{FF2B5EF4-FFF2-40B4-BE49-F238E27FC236}">
                <a16:creationId xmlns:a16="http://schemas.microsoft.com/office/drawing/2014/main" id="{DF803660-1676-522F-4A76-E7E40D944B6B}"/>
              </a:ext>
            </a:extLst>
          </p:cNvPr>
          <p:cNvSpPr txBox="1"/>
          <p:nvPr/>
        </p:nvSpPr>
        <p:spPr>
          <a:xfrm>
            <a:off x="452715" y="353386"/>
            <a:ext cx="6094562" cy="461665"/>
          </a:xfrm>
          <a:prstGeom prst="rect">
            <a:avLst/>
          </a:prstGeom>
          <a:noFill/>
        </p:spPr>
        <p:txBody>
          <a:bodyPr wrap="square">
            <a:spAutoFit/>
          </a:bodyPr>
          <a:lstStyle/>
          <a:p>
            <a:r>
              <a:rPr lang="en-IN" sz="2400" dirty="0"/>
              <a:t>5.1.2 Testing for Bias</a:t>
            </a:r>
          </a:p>
        </p:txBody>
      </p:sp>
      <p:sp>
        <p:nvSpPr>
          <p:cNvPr id="11" name="TextBox 10">
            <a:extLst>
              <a:ext uri="{FF2B5EF4-FFF2-40B4-BE49-F238E27FC236}">
                <a16:creationId xmlns:a16="http://schemas.microsoft.com/office/drawing/2014/main" id="{579234A9-670C-0D9E-FCC4-0CA3DBF0362D}"/>
              </a:ext>
            </a:extLst>
          </p:cNvPr>
          <p:cNvSpPr txBox="1"/>
          <p:nvPr/>
        </p:nvSpPr>
        <p:spPr>
          <a:xfrm>
            <a:off x="1149470" y="1296239"/>
            <a:ext cx="8529368" cy="369332"/>
          </a:xfrm>
          <a:prstGeom prst="rect">
            <a:avLst/>
          </a:prstGeom>
          <a:noFill/>
        </p:spPr>
        <p:txBody>
          <a:bodyPr wrap="square">
            <a:spAutoFit/>
          </a:bodyPr>
          <a:lstStyle/>
          <a:p>
            <a:pPr>
              <a:buNone/>
            </a:pPr>
            <a:endParaRPr lang="en-IN" dirty="0"/>
          </a:p>
        </p:txBody>
      </p:sp>
      <p:sp>
        <p:nvSpPr>
          <p:cNvPr id="5" name="TextBox 4">
            <a:extLst>
              <a:ext uri="{FF2B5EF4-FFF2-40B4-BE49-F238E27FC236}">
                <a16:creationId xmlns:a16="http://schemas.microsoft.com/office/drawing/2014/main" id="{ACFCB1C0-3C80-B225-4E02-FF9EDE5C9049}"/>
              </a:ext>
            </a:extLst>
          </p:cNvPr>
          <p:cNvSpPr txBox="1"/>
          <p:nvPr/>
        </p:nvSpPr>
        <p:spPr>
          <a:xfrm>
            <a:off x="530351" y="1090051"/>
            <a:ext cx="8751671" cy="5632311"/>
          </a:xfrm>
          <a:prstGeom prst="rect">
            <a:avLst/>
          </a:prstGeom>
          <a:noFill/>
        </p:spPr>
        <p:txBody>
          <a:bodyPr wrap="square">
            <a:spAutoFit/>
          </a:bodyPr>
          <a:lstStyle/>
          <a:p>
            <a:pPr>
              <a:buNone/>
            </a:pPr>
            <a:r>
              <a:rPr lang="en-IN" b="1" dirty="0"/>
              <a:t>7. Disparate Impact Analysis</a:t>
            </a:r>
          </a:p>
          <a:p>
            <a:pPr>
              <a:buNone/>
            </a:pPr>
            <a:endParaRPr lang="en-IN" dirty="0"/>
          </a:p>
          <a:p>
            <a:pPr>
              <a:buNone/>
            </a:pPr>
            <a:r>
              <a:rPr lang="en-IN" dirty="0"/>
              <a:t>Disparate impact analysis evaluates whether a Machine Learning System produces unfairly different outcomes for different sensitive groups.</a:t>
            </a:r>
          </a:p>
          <a:p>
            <a:pPr>
              <a:buNone/>
            </a:pPr>
            <a:endParaRPr lang="en-IN" dirty="0"/>
          </a:p>
          <a:p>
            <a:pPr>
              <a:buNone/>
            </a:pPr>
            <a:r>
              <a:rPr lang="en-IN" dirty="0"/>
              <a:t>The testing process involves the following steps:</a:t>
            </a:r>
          </a:p>
          <a:p>
            <a:pPr>
              <a:buNone/>
            </a:pPr>
            <a:endParaRPr lang="en-IN" dirty="0"/>
          </a:p>
          <a:p>
            <a:pPr marL="342900" indent="-342900">
              <a:buAutoNum type="arabicPeriod"/>
            </a:pPr>
            <a:r>
              <a:rPr lang="en-IN" dirty="0"/>
              <a:t>Identify Sensitive Attributes: Determine which sensitive attributes, such as gender, age, or race, may influence the model's predictions.</a:t>
            </a:r>
          </a:p>
          <a:p>
            <a:pPr marL="342900" indent="-342900">
              <a:buAutoNum type="arabicPeriod"/>
            </a:pPr>
            <a:endParaRPr lang="en-IN" dirty="0"/>
          </a:p>
          <a:p>
            <a:pPr>
              <a:buNone/>
            </a:pPr>
            <a:r>
              <a:rPr lang="en-IN" dirty="0"/>
              <a:t>2. Generate Counterfactuals: Create alternative test scenarios by changing a sensitive attribute while keeping other relevant attributes unchanged. For example, change the gender of a loan applicant from male to female while keeping income, credit score, and employment details the same.</a:t>
            </a:r>
          </a:p>
          <a:p>
            <a:pPr>
              <a:buNone/>
            </a:pPr>
            <a:endParaRPr lang="en-IN" dirty="0"/>
          </a:p>
          <a:p>
            <a:pPr>
              <a:buNone/>
            </a:pPr>
            <a:r>
              <a:rPr lang="en-IN" dirty="0"/>
              <a:t>3. Generate Model Outputs: Provide the original and counterfactual test scenarios to the ML model and record the predictions.</a:t>
            </a:r>
          </a:p>
          <a:p>
            <a:pPr>
              <a:buNone/>
            </a:pPr>
            <a:endParaRPr lang="en-IN" dirty="0"/>
          </a:p>
          <a:p>
            <a:pPr>
              <a:buNone/>
            </a:pPr>
            <a:r>
              <a:rPr lang="en-IN" dirty="0"/>
              <a:t>4. </a:t>
            </a:r>
            <a:r>
              <a:rPr lang="en-IN" dirty="0" err="1"/>
              <a:t>Analyze</a:t>
            </a:r>
            <a:r>
              <a:rPr lang="en-IN" dirty="0"/>
              <a:t> the Results: Compare the model's outputs across multiple test cases to determine whether changes in sensitive </a:t>
            </a:r>
            <a:r>
              <a:rPr lang="en-IN" dirty="0" err="1"/>
              <a:t>attrib</a:t>
            </a:r>
            <a:endParaRPr lang="en-IN" dirty="0"/>
          </a:p>
        </p:txBody>
      </p:sp>
    </p:spTree>
    <p:extLst>
      <p:ext uri="{BB962C8B-B14F-4D97-AF65-F5344CB8AC3E}">
        <p14:creationId xmlns:p14="http://schemas.microsoft.com/office/powerpoint/2010/main" val="3484418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FFDED"/>
        </a:solidFill>
        <a:effectLst/>
      </p:bgPr>
    </p:bg>
    <p:spTree>
      <p:nvGrpSpPr>
        <p:cNvPr id="1" name="">
          <a:extLst>
            <a:ext uri="{FF2B5EF4-FFF2-40B4-BE49-F238E27FC236}">
              <a16:creationId xmlns:a16="http://schemas.microsoft.com/office/drawing/2014/main" id="{3F84B360-26CB-D681-D9BE-D0A884E9E57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AD7998-1C4B-FD81-FD11-0F2BCD3C4E3C}"/>
              </a:ext>
            </a:extLst>
          </p:cNvPr>
          <p:cNvSpPr/>
          <p:nvPr/>
        </p:nvSpPr>
        <p:spPr>
          <a:xfrm>
            <a:off x="530352" y="393192"/>
            <a:ext cx="11109960" cy="475488"/>
          </a:xfrm>
          <a:prstGeom prst="rect">
            <a:avLst/>
          </a:prstGeom>
          <a:noFill/>
          <a:ln/>
        </p:spPr>
        <p:txBody>
          <a:bodyPr wrap="square" lIns="0" tIns="0" rIns="0" bIns="0" rtlCol="0" anchor="ctr"/>
          <a:lstStyle/>
          <a:p>
            <a:pPr marL="0" indent="0">
              <a:buNone/>
            </a:pPr>
            <a:endParaRPr lang="en-US" sz="2700" dirty="0"/>
          </a:p>
        </p:txBody>
      </p:sp>
      <p:sp>
        <p:nvSpPr>
          <p:cNvPr id="3" name="Shape 1">
            <a:extLst>
              <a:ext uri="{FF2B5EF4-FFF2-40B4-BE49-F238E27FC236}">
                <a16:creationId xmlns:a16="http://schemas.microsoft.com/office/drawing/2014/main" id="{B1E29A65-F70C-CA9A-D00C-7D46DE10A86A}"/>
              </a:ext>
            </a:extLst>
          </p:cNvPr>
          <p:cNvSpPr/>
          <p:nvPr/>
        </p:nvSpPr>
        <p:spPr>
          <a:xfrm>
            <a:off x="530352" y="941832"/>
            <a:ext cx="10515600" cy="0"/>
          </a:xfrm>
          <a:prstGeom prst="line">
            <a:avLst/>
          </a:prstGeom>
          <a:noFill/>
          <a:ln w="8255">
            <a:solidFill>
              <a:srgbClr val="454545"/>
            </a:solidFill>
            <a:prstDash val="solid"/>
          </a:ln>
        </p:spPr>
      </p:sp>
      <p:sp>
        <p:nvSpPr>
          <p:cNvPr id="9" name="TextBox 8">
            <a:extLst>
              <a:ext uri="{FF2B5EF4-FFF2-40B4-BE49-F238E27FC236}">
                <a16:creationId xmlns:a16="http://schemas.microsoft.com/office/drawing/2014/main" id="{4970D0E5-C340-3115-1E08-5667FEB09728}"/>
              </a:ext>
            </a:extLst>
          </p:cNvPr>
          <p:cNvSpPr txBox="1"/>
          <p:nvPr/>
        </p:nvSpPr>
        <p:spPr>
          <a:xfrm>
            <a:off x="530352" y="393192"/>
            <a:ext cx="6094562" cy="461665"/>
          </a:xfrm>
          <a:prstGeom prst="rect">
            <a:avLst/>
          </a:prstGeom>
          <a:noFill/>
        </p:spPr>
        <p:txBody>
          <a:bodyPr wrap="square">
            <a:spAutoFit/>
          </a:bodyPr>
          <a:lstStyle/>
          <a:p>
            <a:r>
              <a:rPr lang="en-IN" sz="2400" dirty="0"/>
              <a:t>5.1.2 Testing for Bias</a:t>
            </a:r>
          </a:p>
        </p:txBody>
      </p:sp>
      <p:sp>
        <p:nvSpPr>
          <p:cNvPr id="11" name="TextBox 10">
            <a:extLst>
              <a:ext uri="{FF2B5EF4-FFF2-40B4-BE49-F238E27FC236}">
                <a16:creationId xmlns:a16="http://schemas.microsoft.com/office/drawing/2014/main" id="{EDD0EE7C-3384-2F37-ECE7-259C9C217E41}"/>
              </a:ext>
            </a:extLst>
          </p:cNvPr>
          <p:cNvSpPr txBox="1"/>
          <p:nvPr/>
        </p:nvSpPr>
        <p:spPr>
          <a:xfrm>
            <a:off x="1149470" y="1296239"/>
            <a:ext cx="8529368" cy="369332"/>
          </a:xfrm>
          <a:prstGeom prst="rect">
            <a:avLst/>
          </a:prstGeom>
          <a:noFill/>
        </p:spPr>
        <p:txBody>
          <a:bodyPr wrap="square">
            <a:spAutoFit/>
          </a:bodyPr>
          <a:lstStyle/>
          <a:p>
            <a:pPr>
              <a:buNone/>
            </a:pPr>
            <a:endParaRPr lang="en-IN" dirty="0"/>
          </a:p>
        </p:txBody>
      </p:sp>
      <p:sp>
        <p:nvSpPr>
          <p:cNvPr id="5" name="TextBox 4">
            <a:extLst>
              <a:ext uri="{FF2B5EF4-FFF2-40B4-BE49-F238E27FC236}">
                <a16:creationId xmlns:a16="http://schemas.microsoft.com/office/drawing/2014/main" id="{4B25986B-0382-63E8-A6BE-301E88210706}"/>
              </a:ext>
            </a:extLst>
          </p:cNvPr>
          <p:cNvSpPr txBox="1"/>
          <p:nvPr/>
        </p:nvSpPr>
        <p:spPr>
          <a:xfrm>
            <a:off x="744027" y="1398325"/>
            <a:ext cx="9374757" cy="4524315"/>
          </a:xfrm>
          <a:prstGeom prst="rect">
            <a:avLst/>
          </a:prstGeom>
          <a:noFill/>
        </p:spPr>
        <p:txBody>
          <a:bodyPr wrap="square">
            <a:spAutoFit/>
          </a:bodyPr>
          <a:lstStyle/>
          <a:p>
            <a:pPr>
              <a:buNone/>
            </a:pPr>
            <a:r>
              <a:rPr lang="en-IN" b="1" dirty="0"/>
              <a:t>Important Note</a:t>
            </a:r>
          </a:p>
          <a:p>
            <a:pPr>
              <a:buNone/>
            </a:pPr>
            <a:endParaRPr lang="en-IN" b="1" dirty="0"/>
          </a:p>
          <a:p>
            <a:pPr>
              <a:buNone/>
            </a:pPr>
            <a:r>
              <a:rPr lang="en-IN" dirty="0"/>
              <a:t>Disparate impact analysis can also be applied to combinations of sensitive attributes, such as gender and age, to identify hidden bias that may not be visible when attributes are evaluated individually.</a:t>
            </a:r>
          </a:p>
          <a:p>
            <a:pPr>
              <a:buNone/>
            </a:pPr>
            <a:endParaRPr lang="en-IN" dirty="0"/>
          </a:p>
          <a:p>
            <a:pPr>
              <a:buNone/>
            </a:pPr>
            <a:r>
              <a:rPr lang="en-IN" dirty="0"/>
              <a:t>However, counterfactual test scenarios must be realistic. Unrealistic combinations of attributes may cause the model to produce different results because of unusual input data rather than actual bias.</a:t>
            </a:r>
          </a:p>
          <a:p>
            <a:pPr>
              <a:buNone/>
            </a:pPr>
            <a:endParaRPr lang="en-IN" dirty="0"/>
          </a:p>
          <a:p>
            <a:pPr>
              <a:buNone/>
            </a:pPr>
            <a:r>
              <a:rPr lang="en-IN" dirty="0"/>
              <a:t>Key takeaway: Testing for bias helps ensure that Machine Learning Systems produce fair and consistent outcomes across different population groups. It involves examining training data, algorithms, implementation code, and model predictions to detect potential discrimination.</a:t>
            </a:r>
          </a:p>
          <a:p>
            <a:pPr>
              <a:buNone/>
            </a:pPr>
            <a:r>
              <a:rPr lang="en-IN" dirty="0"/>
              <a:t>Terminology note: Counterfactual testing is particularly useful for assessing whether changing a sensitive attribute affects a prediction. Traditional disparate impact analysis generally compares outcome rates between groups, without necessarily changing individual attributes.</a:t>
            </a:r>
          </a:p>
        </p:txBody>
      </p:sp>
    </p:spTree>
    <p:extLst>
      <p:ext uri="{BB962C8B-B14F-4D97-AF65-F5344CB8AC3E}">
        <p14:creationId xmlns:p14="http://schemas.microsoft.com/office/powerpoint/2010/main" val="3680634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DFFDED"/>
        </a:solidFill>
        <a:effectLst/>
      </p:bgPr>
    </p:bg>
    <p:spTree>
      <p:nvGrpSpPr>
        <p:cNvPr id="1" name=""/>
        <p:cNvGrpSpPr/>
        <p:nvPr/>
      </p:nvGrpSpPr>
      <p:grpSpPr>
        <a:xfrm>
          <a:off x="0" y="0"/>
          <a:ext cx="0" cy="0"/>
          <a:chOff x="0" y="0"/>
          <a:chExt cx="0" cy="0"/>
        </a:xfrm>
      </p:grpSpPr>
      <p:sp>
        <p:nvSpPr>
          <p:cNvPr id="2" name="Text 0"/>
          <p:cNvSpPr/>
          <p:nvPr/>
        </p:nvSpPr>
        <p:spPr>
          <a:xfrm>
            <a:off x="3657600" y="2834640"/>
            <a:ext cx="5029200" cy="640080"/>
          </a:xfrm>
          <a:prstGeom prst="rect">
            <a:avLst/>
          </a:prstGeom>
          <a:noFill/>
          <a:ln/>
        </p:spPr>
        <p:txBody>
          <a:bodyPr wrap="square" lIns="0" tIns="0" rIns="0" bIns="0" rtlCol="0" anchor="ctr"/>
          <a:lstStyle/>
          <a:p>
            <a:pPr marL="0" indent="0" algn="ctr">
              <a:buNone/>
            </a:pPr>
            <a:r>
              <a:rPr lang="en-US" sz="3100" b="1" dirty="0">
                <a:solidFill>
                  <a:srgbClr val="080808"/>
                </a:solidFill>
                <a:latin typeface="Arial" pitchFamily="34" charset="0"/>
                <a:ea typeface="Arial" pitchFamily="34" charset="-122"/>
                <a:cs typeface="Arial" pitchFamily="34" charset="-120"/>
              </a:rPr>
              <a:t>THANK YOU!!!</a:t>
            </a:r>
            <a:endParaRPr lang="en-US" sz="3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613</Words>
  <Application>Microsoft Office PowerPoint</Application>
  <PresentationFormat>Widescreen</PresentationFormat>
  <Paragraphs>64</Paragraphs>
  <Slides>8</Slides>
  <Notes>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8</vt:i4>
      </vt:variant>
    </vt:vector>
  </HeadingPairs>
  <TitlesOfParts>
    <vt:vector size="10"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Calculation of Machine Learning Functional Performance Metrics</dc:title>
  <dc:subject>ISTQB CT-AI 3.3.1</dc:subject>
  <dc:creator>OpenAI</dc:creator>
  <cp:lastModifiedBy>Anurag Patil</cp:lastModifiedBy>
  <cp:revision>19</cp:revision>
  <dcterms:created xsi:type="dcterms:W3CDTF">2026-10-14T05:21:37Z</dcterms:created>
  <dcterms:modified xsi:type="dcterms:W3CDTF">2026-10-19T05:48:22Z</dcterms:modified>
</cp:coreProperties>
</file>