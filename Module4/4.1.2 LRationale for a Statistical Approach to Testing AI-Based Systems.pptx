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266" r:id="rId3"/>
    <p:sldId id="274" r:id="rId4"/>
    <p:sldId id="275" r:id="rId5"/>
    <p:sldId id="276" r:id="rId6"/>
    <p:sldId id="277" r:id="rId7"/>
    <p:sldId id="278" r:id="rId8"/>
    <p:sldId id="279"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0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3625D-6226-1D23-EEE7-9015B4D9C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C9220-80B3-CECA-3C14-D92938C0F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E09D8-3C50-538A-8096-1E7C4F44B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AB4D1-BC7F-C613-4AB0-4C04F34E043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7907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4C3F-1A04-EB20-0D77-7AC10C45F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41CB2-82E2-677B-3A64-D4EB24D89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63F39-EC77-C34F-0566-B379845C9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7D937-60AA-5437-8E99-651B98CB25E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262254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91D1-A98D-A9CE-0B27-A59F264E9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CA357-6A28-A373-F577-B30AB9B32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CB24E-0DF3-86CE-B691-4955051A62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8D7ADA-9171-0235-F24F-8B501B5E870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77695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4CD2B-141E-751C-F337-3011A39FA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8EFE6-EDFD-9123-B539-C080B6781E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26F70-60C8-13DB-E626-C4C823557D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EA6FB-6723-C7B2-CA54-C9F15B758BC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53329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8430C-1D2E-CEC8-6CC7-046A119C0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43B60-1DAB-E8E5-C12F-FC4BCA9FC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C3EC2-9C96-4175-D43B-E7ED46AD11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772CF8-3220-647D-0299-ED1B4D48AF5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34288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0E29F-848B-6D50-D6E9-B5F58EE08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57CF9-9FD6-1E0C-8EDE-F764A8D4F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AA49E-0B7F-0FB4-720C-0F3A72D971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AC5B74-53E8-34FF-778A-1EF4DB243AB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73437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1474-6182-FDD2-FD2A-276E42882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CDCA4-27A3-D534-7376-CCE62517C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989C1-B09D-B358-8EC1-DF9EFB3761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545C4-6141-D0F5-B971-11617150D91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74265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DFFDED"/>
        </a:solidFill>
        <a:effectLst/>
      </p:bgPr>
    </p:bg>
    <p:spTree>
      <p:nvGrpSpPr>
        <p:cNvPr id="1" name=""/>
        <p:cNvGrpSpPr/>
        <p:nvPr/>
      </p:nvGrpSpPr>
      <p:grpSpPr>
        <a:xfrm>
          <a:off x="0" y="0"/>
          <a:ext cx="0" cy="0"/>
          <a:chOff x="0" y="0"/>
          <a:chExt cx="0" cy="0"/>
        </a:xfrm>
      </p:grpSpPr>
      <p:sp>
        <p:nvSpPr>
          <p:cNvPr id="2" name="Text 0"/>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C80ED7A5-DDEB-D87B-93AE-EC54E23A6944}"/>
              </a:ext>
            </a:extLst>
          </p:cNvPr>
          <p:cNvSpPr txBox="1"/>
          <p:nvPr/>
        </p:nvSpPr>
        <p:spPr>
          <a:xfrm>
            <a:off x="551688" y="139508"/>
            <a:ext cx="8915573" cy="461665"/>
          </a:xfrm>
          <a:prstGeom prst="rect">
            <a:avLst/>
          </a:prstGeom>
          <a:noFill/>
        </p:spPr>
        <p:txBody>
          <a:bodyPr wrap="square">
            <a:spAutoFit/>
          </a:bodyPr>
          <a:lstStyle/>
          <a:p>
            <a:r>
              <a:rPr lang="en-IN" sz="2400" dirty="0"/>
              <a:t>4.1.2 - Rationale for a Statistical Approach to Testing AI-Based Systems</a:t>
            </a:r>
          </a:p>
        </p:txBody>
      </p:sp>
      <p:sp>
        <p:nvSpPr>
          <p:cNvPr id="6" name="TextBox 5">
            <a:extLst>
              <a:ext uri="{FF2B5EF4-FFF2-40B4-BE49-F238E27FC236}">
                <a16:creationId xmlns:a16="http://schemas.microsoft.com/office/drawing/2014/main" id="{08D2BFC6-CEF9-5D41-AACD-FFD070B19520}"/>
              </a:ext>
            </a:extLst>
          </p:cNvPr>
          <p:cNvSpPr txBox="1"/>
          <p:nvPr/>
        </p:nvSpPr>
        <p:spPr>
          <a:xfrm>
            <a:off x="726775" y="1122364"/>
            <a:ext cx="9021074" cy="5632311"/>
          </a:xfrm>
          <a:prstGeom prst="rect">
            <a:avLst/>
          </a:prstGeom>
          <a:noFill/>
        </p:spPr>
        <p:txBody>
          <a:bodyPr wrap="square">
            <a:spAutoFit/>
          </a:bodyPr>
          <a:lstStyle/>
          <a:p>
            <a:pPr>
              <a:buNone/>
            </a:pPr>
            <a:r>
              <a:rPr lang="en-IN" dirty="0"/>
              <a:t>AI-based systems are data-driven and probabilistic, which means their outputs may vary depending on the input data and model </a:t>
            </a:r>
            <a:r>
              <a:rPr lang="en-IN" dirty="0" err="1"/>
              <a:t>behavior</a:t>
            </a:r>
            <a:r>
              <a:rPr lang="en-IN" dirty="0"/>
              <a:t>.</a:t>
            </a:r>
          </a:p>
          <a:p>
            <a:pPr>
              <a:buNone/>
            </a:pPr>
            <a:r>
              <a:rPr lang="en-IN" dirty="0"/>
              <a:t>Statistical testing is required to evaluate the accuracy, reliability, fairness, and robustness of AI systems across different scenarios rather than relying on individual test results.</a:t>
            </a:r>
          </a:p>
          <a:p>
            <a:pPr>
              <a:buNone/>
            </a:pPr>
            <a:endParaRPr lang="en-IN" dirty="0"/>
          </a:p>
          <a:p>
            <a:pPr marL="342900" indent="-342900">
              <a:buAutoNum type="arabicPeriod"/>
            </a:pPr>
            <a:r>
              <a:rPr lang="en-IN" b="1" dirty="0"/>
              <a:t>Non-Determinism</a:t>
            </a:r>
          </a:p>
          <a:p>
            <a:pPr marL="342900" indent="-342900">
              <a:buAutoNum type="arabicPeriod"/>
            </a:pPr>
            <a:endParaRPr lang="en-IN" b="1" dirty="0"/>
          </a:p>
          <a:p>
            <a:pPr marL="342900" lvl="0" indent="-342900">
              <a:buFont typeface="Arial" panose="020B0604020202020204" pitchFamily="34" charset="0"/>
              <a:buChar char="•"/>
            </a:pPr>
            <a:r>
              <a:rPr lang="en-IN" dirty="0"/>
              <a:t>AI-based systems often exhibit non-deterministic </a:t>
            </a:r>
            <a:r>
              <a:rPr lang="en-IN" dirty="0" err="1"/>
              <a:t>behavior</a:t>
            </a:r>
            <a:r>
              <a:rPr lang="en-IN" dirty="0"/>
              <a:t>, meaning the same input may produce different outputs.</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This </a:t>
            </a:r>
            <a:r>
              <a:rPr lang="en-IN" dirty="0" err="1"/>
              <a:t>behavior</a:t>
            </a:r>
            <a:r>
              <a:rPr lang="en-IN" dirty="0"/>
              <a:t> can occur because of randomness within the model or probabilistic relationships learned from training data.</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A single test result cannot accurately represent the overall performance of an AI model.</a:t>
            </a:r>
          </a:p>
          <a:p>
            <a:pPr marL="342900" lvl="0" indent="-342900">
              <a:buFont typeface="Arial" panose="020B0604020202020204" pitchFamily="34" charset="0"/>
              <a:buChar char="•"/>
            </a:pPr>
            <a:r>
              <a:rPr lang="en-IN" dirty="0"/>
              <a:t>Therefore, a sufficiently large number of test cases is required to obtain statistically reliable results.</a:t>
            </a:r>
          </a:p>
          <a:p>
            <a:pPr marL="342900" lvl="0" indent="-342900">
              <a:buFont typeface="Arial" panose="020B0604020202020204" pitchFamily="34" charset="0"/>
              <a:buChar char="•"/>
            </a:pPr>
            <a:endParaRPr lang="en-IN" dirty="0"/>
          </a:p>
          <a:p>
            <a:pPr>
              <a:buNone/>
            </a:pPr>
            <a:r>
              <a:rPr lang="en-IN" dirty="0"/>
              <a:t>Example: If an AI model incorrectly identifies a cat as a dog in one test, it does not necessarily mean the entire model is unreliable. Testers must evaluate many images to determine its overall accuracy.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50208786-7A9F-DED2-5891-53EAFD4E85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BE34F8-F405-8E04-6BA9-D3DAE62DE786}"/>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1FD04790-2ABB-F078-9523-F2534C8BD514}"/>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54B1E508-262F-937A-DADC-2BEEA89B0F2E}"/>
              </a:ext>
            </a:extLst>
          </p:cNvPr>
          <p:cNvSpPr txBox="1"/>
          <p:nvPr/>
        </p:nvSpPr>
        <p:spPr>
          <a:xfrm>
            <a:off x="530352" y="393192"/>
            <a:ext cx="6094562" cy="461665"/>
          </a:xfrm>
          <a:prstGeom prst="rect">
            <a:avLst/>
          </a:prstGeom>
          <a:noFill/>
        </p:spPr>
        <p:txBody>
          <a:bodyPr wrap="square">
            <a:spAutoFit/>
          </a:bodyPr>
          <a:lstStyle/>
          <a:p>
            <a:r>
              <a:rPr lang="en-IN" sz="2400" b="1" dirty="0"/>
              <a:t>2. Distributional Performance Evaluation</a:t>
            </a:r>
          </a:p>
        </p:txBody>
      </p:sp>
      <p:sp>
        <p:nvSpPr>
          <p:cNvPr id="5" name="TextBox 4">
            <a:extLst>
              <a:ext uri="{FF2B5EF4-FFF2-40B4-BE49-F238E27FC236}">
                <a16:creationId xmlns:a16="http://schemas.microsoft.com/office/drawing/2014/main" id="{6D7D5EE6-884E-7DB4-15ED-51165E61D53F}"/>
              </a:ext>
            </a:extLst>
          </p:cNvPr>
          <p:cNvSpPr txBox="1"/>
          <p:nvPr/>
        </p:nvSpPr>
        <p:spPr>
          <a:xfrm>
            <a:off x="761280" y="1455697"/>
            <a:ext cx="8926183" cy="2862322"/>
          </a:xfrm>
          <a:prstGeom prst="rect">
            <a:avLst/>
          </a:prstGeom>
          <a:noFill/>
        </p:spPr>
        <p:txBody>
          <a:bodyPr wrap="square">
            <a:spAutoFit/>
          </a:bodyPr>
          <a:lstStyle/>
          <a:p>
            <a:pPr lvl="0"/>
            <a:r>
              <a:rPr lang="en-IN" dirty="0"/>
              <a:t>AI models are trained using datasets that may not exactly represent real-world operating conditions.</a:t>
            </a:r>
          </a:p>
          <a:p>
            <a:pPr lvl="0"/>
            <a:r>
              <a:rPr lang="en-IN" dirty="0"/>
              <a:t>Differences between training data and operational data can affect the model's performance.</a:t>
            </a:r>
          </a:p>
          <a:p>
            <a:pPr lvl="0"/>
            <a:r>
              <a:rPr lang="en-IN" dirty="0"/>
              <a:t>Statistical testing helps evaluate AI performance across different data distributions and scenarios.</a:t>
            </a:r>
          </a:p>
          <a:p>
            <a:pPr lvl="0"/>
            <a:r>
              <a:rPr lang="en-IN" dirty="0"/>
              <a:t>A sufficiently large and representative sample of real-world data is required to assess the model's reliability.</a:t>
            </a:r>
          </a:p>
          <a:p>
            <a:r>
              <a:rPr lang="en-IN" dirty="0"/>
              <a:t>Example: A facial recognition system trained mainly on clear images should also be tested using images captured under different lighting conditions, camera angles, and environments.</a:t>
            </a:r>
          </a:p>
          <a:p>
            <a:pPr marL="342900" lvl="0" indent="-342900">
              <a:buFont typeface="Arial" panose="020B0604020202020204" pitchFamily="34" charset="0"/>
              <a:buChar char="•"/>
            </a:pPr>
            <a:endParaRPr lang="en-IN" dirty="0"/>
          </a:p>
        </p:txBody>
      </p:sp>
    </p:spTree>
    <p:extLst>
      <p:ext uri="{BB962C8B-B14F-4D97-AF65-F5344CB8AC3E}">
        <p14:creationId xmlns:p14="http://schemas.microsoft.com/office/powerpoint/2010/main" val="361967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09069FDA-0977-FEDE-73AD-B86BE8DEFE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0A120A-A6D0-9FCE-97B4-1ACBBEDD6BED}"/>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580E960A-CF07-5DFD-DFF6-88BBB3B52A5C}"/>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442FDA47-805E-28B5-9CD5-BDEA9C1ED2ED}"/>
              </a:ext>
            </a:extLst>
          </p:cNvPr>
          <p:cNvSpPr txBox="1"/>
          <p:nvPr/>
        </p:nvSpPr>
        <p:spPr>
          <a:xfrm>
            <a:off x="530352" y="393192"/>
            <a:ext cx="6094562" cy="461665"/>
          </a:xfrm>
          <a:prstGeom prst="rect">
            <a:avLst/>
          </a:prstGeom>
          <a:noFill/>
        </p:spPr>
        <p:txBody>
          <a:bodyPr wrap="square">
            <a:spAutoFit/>
          </a:bodyPr>
          <a:lstStyle/>
          <a:p>
            <a:r>
              <a:rPr lang="en-IN" sz="2400" b="1" dirty="0"/>
              <a:t>3. Handling Uncertainty and Bias</a:t>
            </a:r>
          </a:p>
        </p:txBody>
      </p:sp>
      <p:sp>
        <p:nvSpPr>
          <p:cNvPr id="5" name="TextBox 4">
            <a:extLst>
              <a:ext uri="{FF2B5EF4-FFF2-40B4-BE49-F238E27FC236}">
                <a16:creationId xmlns:a16="http://schemas.microsoft.com/office/drawing/2014/main" id="{74C8241F-4D3D-1AAD-C5F6-FCD325635A96}"/>
              </a:ext>
            </a:extLst>
          </p:cNvPr>
          <p:cNvSpPr txBox="1"/>
          <p:nvPr/>
        </p:nvSpPr>
        <p:spPr>
          <a:xfrm>
            <a:off x="761280" y="1455697"/>
            <a:ext cx="8926183" cy="2585323"/>
          </a:xfrm>
          <a:prstGeom prst="rect">
            <a:avLst/>
          </a:prstGeom>
          <a:noFill/>
        </p:spPr>
        <p:txBody>
          <a:bodyPr wrap="square">
            <a:spAutoFit/>
          </a:bodyPr>
          <a:lstStyle/>
          <a:p>
            <a:pPr lvl="0"/>
            <a:r>
              <a:rPr lang="en-IN" dirty="0"/>
              <a:t>AI-based systems may produce incorrect predictions even when they report high confidence levels.</a:t>
            </a:r>
          </a:p>
          <a:p>
            <a:pPr lvl="0"/>
            <a:r>
              <a:rPr lang="en-IN" dirty="0"/>
              <a:t>Bias in training data can cause AI models to perform differently across groups or situations.</a:t>
            </a:r>
          </a:p>
          <a:p>
            <a:pPr lvl="0"/>
            <a:r>
              <a:rPr lang="en-IN" dirty="0"/>
              <a:t>Statistical testing helps measure model accuracy, fairness, and robustness.</a:t>
            </a:r>
          </a:p>
          <a:p>
            <a:pPr lvl="0"/>
            <a:r>
              <a:rPr lang="en-IN" dirty="0"/>
              <a:t>Techniques such as confidence intervals, hypothesis testing, and error analysis help testers evaluate the reliability of AI predictions.</a:t>
            </a:r>
          </a:p>
          <a:p>
            <a:r>
              <a:rPr lang="en-IN" dirty="0"/>
              <a:t>Example: An AI-based recruitment system may perform differently across demographic groups. Statistical testing can help identify and measure these differences.</a:t>
            </a:r>
          </a:p>
          <a:p>
            <a:pPr marL="342900" lvl="0" indent="-342900">
              <a:buFont typeface="Arial" panose="020B0604020202020204" pitchFamily="34" charset="0"/>
              <a:buChar char="•"/>
            </a:pPr>
            <a:endParaRPr lang="en-IN" dirty="0"/>
          </a:p>
        </p:txBody>
      </p:sp>
    </p:spTree>
    <p:extLst>
      <p:ext uri="{BB962C8B-B14F-4D97-AF65-F5344CB8AC3E}">
        <p14:creationId xmlns:p14="http://schemas.microsoft.com/office/powerpoint/2010/main" val="3408209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81A21CE5-57AB-D361-FD20-FF7319F907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585AA6-36F2-C78F-96A8-7ECE80BC2172}"/>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0EEC4DDF-E826-A56F-9AFF-A2D2C31ADC28}"/>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19B064AB-00C6-D7F6-CE2A-983E9DC2CF2C}"/>
              </a:ext>
            </a:extLst>
          </p:cNvPr>
          <p:cNvSpPr txBox="1"/>
          <p:nvPr/>
        </p:nvSpPr>
        <p:spPr>
          <a:xfrm>
            <a:off x="530352" y="393192"/>
            <a:ext cx="6094562" cy="461665"/>
          </a:xfrm>
          <a:prstGeom prst="rect">
            <a:avLst/>
          </a:prstGeom>
          <a:noFill/>
        </p:spPr>
        <p:txBody>
          <a:bodyPr wrap="square">
            <a:spAutoFit/>
          </a:bodyPr>
          <a:lstStyle/>
          <a:p>
            <a:pPr>
              <a:buNone/>
            </a:pPr>
            <a:r>
              <a:rPr lang="en-IN" sz="2400" b="1" dirty="0"/>
              <a:t>4. Regulatory and Safety Context</a:t>
            </a:r>
          </a:p>
        </p:txBody>
      </p:sp>
      <p:sp>
        <p:nvSpPr>
          <p:cNvPr id="6" name="TextBox 5">
            <a:extLst>
              <a:ext uri="{FF2B5EF4-FFF2-40B4-BE49-F238E27FC236}">
                <a16:creationId xmlns:a16="http://schemas.microsoft.com/office/drawing/2014/main" id="{1664A75E-4D38-595D-6636-A67A71B0636F}"/>
              </a:ext>
            </a:extLst>
          </p:cNvPr>
          <p:cNvSpPr txBox="1"/>
          <p:nvPr/>
        </p:nvSpPr>
        <p:spPr>
          <a:xfrm>
            <a:off x="530352" y="1582340"/>
            <a:ext cx="9364146" cy="3139321"/>
          </a:xfrm>
          <a:prstGeom prst="rect">
            <a:avLst/>
          </a:prstGeom>
          <a:noFill/>
        </p:spPr>
        <p:txBody>
          <a:bodyPr wrap="square">
            <a:spAutoFit/>
          </a:bodyPr>
          <a:lstStyle/>
          <a:p>
            <a:pPr marL="342900" lvl="0" indent="-342900">
              <a:buFont typeface="Arial" panose="020B0604020202020204" pitchFamily="34" charset="0"/>
              <a:buChar char="•"/>
            </a:pPr>
            <a:r>
              <a:rPr lang="en-IN" dirty="0"/>
              <a:t>AI-based systems used in regulated industries, such as healthcare and transportation, must meet strict safety and reliability requirements.</a:t>
            </a:r>
          </a:p>
          <a:p>
            <a:pPr marL="342900" lvl="0" indent="-342900">
              <a:buFont typeface="Arial" panose="020B0604020202020204" pitchFamily="34" charset="0"/>
              <a:buChar char="•"/>
            </a:pPr>
            <a:r>
              <a:rPr lang="en-IN" dirty="0"/>
              <a:t>Testing only a few individual scenarios is insufficient to demonstrate that an AI system is safe.</a:t>
            </a:r>
          </a:p>
          <a:p>
            <a:pPr marL="342900" lvl="0" indent="-342900">
              <a:buFont typeface="Arial" panose="020B0604020202020204" pitchFamily="34" charset="0"/>
              <a:buChar char="•"/>
            </a:pPr>
            <a:r>
              <a:rPr lang="en-IN" dirty="0"/>
              <a:t>Statistical testing provides evidence that the system meets specified performance, safety, or fairness thresholds.</a:t>
            </a:r>
          </a:p>
          <a:p>
            <a:pPr marL="342900" lvl="0" indent="-342900">
              <a:buFont typeface="Arial" panose="020B0604020202020204" pitchFamily="34" charset="0"/>
              <a:buChar char="•"/>
            </a:pPr>
            <a:r>
              <a:rPr lang="en-IN" dirty="0"/>
              <a:t>Statistical methods help demonstrate reliability across a broad range of scenarios with a defined level of confidence.</a:t>
            </a:r>
          </a:p>
          <a:p>
            <a:pPr marL="342900" lvl="0" indent="-342900">
              <a:buFont typeface="Arial" panose="020B0604020202020204" pitchFamily="34" charset="0"/>
              <a:buChar char="•"/>
            </a:pPr>
            <a:endParaRPr lang="en-IN" dirty="0"/>
          </a:p>
          <a:p>
            <a:pPr>
              <a:buNone/>
            </a:pPr>
            <a:r>
              <a:rPr lang="en-IN" dirty="0"/>
              <a:t>Example: An AI system used to detect diseases must be tested using a sufficiently large and representative dataset to demonstrate that its diagnostic performance meets the required safety standards</a:t>
            </a:r>
          </a:p>
        </p:txBody>
      </p:sp>
    </p:spTree>
    <p:extLst>
      <p:ext uri="{BB962C8B-B14F-4D97-AF65-F5344CB8AC3E}">
        <p14:creationId xmlns:p14="http://schemas.microsoft.com/office/powerpoint/2010/main" val="1385355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8F78BB82-4B32-957F-B62A-D649A3B35E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525D79-CDAA-CF42-5EA3-811BEC89FF41}"/>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F8D0CDE1-293B-84E8-C76B-EC13A9B43284}"/>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5DC164AC-3331-352B-D216-8C12FB937176}"/>
              </a:ext>
            </a:extLst>
          </p:cNvPr>
          <p:cNvSpPr txBox="1"/>
          <p:nvPr/>
        </p:nvSpPr>
        <p:spPr>
          <a:xfrm>
            <a:off x="530352" y="393192"/>
            <a:ext cx="6094562" cy="461665"/>
          </a:xfrm>
          <a:prstGeom prst="rect">
            <a:avLst/>
          </a:prstGeom>
          <a:noFill/>
        </p:spPr>
        <p:txBody>
          <a:bodyPr wrap="square">
            <a:spAutoFit/>
          </a:bodyPr>
          <a:lstStyle/>
          <a:p>
            <a:pPr>
              <a:buNone/>
            </a:pPr>
            <a:r>
              <a:rPr lang="en-IN" sz="2400" b="1" dirty="0"/>
              <a:t>5. Statistical Testing Techniques</a:t>
            </a:r>
          </a:p>
        </p:txBody>
      </p:sp>
      <p:graphicFrame>
        <p:nvGraphicFramePr>
          <p:cNvPr id="4" name="Table 3">
            <a:extLst>
              <a:ext uri="{FF2B5EF4-FFF2-40B4-BE49-F238E27FC236}">
                <a16:creationId xmlns:a16="http://schemas.microsoft.com/office/drawing/2014/main" id="{A02592D8-7957-FB2E-704F-F2B426CDAAC6}"/>
              </a:ext>
            </a:extLst>
          </p:cNvPr>
          <p:cNvGraphicFramePr>
            <a:graphicFrameLocks noGrp="1"/>
          </p:cNvGraphicFramePr>
          <p:nvPr>
            <p:extLst>
              <p:ext uri="{D42A27DB-BD31-4B8C-83A1-F6EECF244321}">
                <p14:modId xmlns:p14="http://schemas.microsoft.com/office/powerpoint/2010/main" val="1160897844"/>
              </p:ext>
            </p:extLst>
          </p:nvPr>
        </p:nvGraphicFramePr>
        <p:xfrm>
          <a:off x="605287" y="1593601"/>
          <a:ext cx="10515600" cy="35661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300733229"/>
                    </a:ext>
                  </a:extLst>
                </a:gridCol>
                <a:gridCol w="5257800">
                  <a:extLst>
                    <a:ext uri="{9D8B030D-6E8A-4147-A177-3AD203B41FA5}">
                      <a16:colId xmlns:a16="http://schemas.microsoft.com/office/drawing/2014/main" val="2577925996"/>
                    </a:ext>
                  </a:extLst>
                </a:gridCol>
              </a:tblGrid>
              <a:tr h="0">
                <a:tc>
                  <a:txBody>
                    <a:bodyPr/>
                    <a:lstStyle/>
                    <a:p>
                      <a:pPr>
                        <a:buNone/>
                      </a:pPr>
                      <a:r>
                        <a:rPr lang="en-IN"/>
                        <a:t>Technique</a:t>
                      </a:r>
                    </a:p>
                  </a:txBody>
                  <a:tcPr anchor="ctr"/>
                </a:tc>
                <a:tc>
                  <a:txBody>
                    <a:bodyPr/>
                    <a:lstStyle/>
                    <a:p>
                      <a:pPr>
                        <a:buNone/>
                      </a:pPr>
                      <a:r>
                        <a:rPr lang="en-IN"/>
                        <a:t>Purpose</a:t>
                      </a:r>
                    </a:p>
                  </a:txBody>
                  <a:tcPr anchor="ctr"/>
                </a:tc>
                <a:extLst>
                  <a:ext uri="{0D108BD9-81ED-4DB2-BD59-A6C34878D82A}">
                    <a16:rowId xmlns:a16="http://schemas.microsoft.com/office/drawing/2014/main" val="4213368881"/>
                  </a:ext>
                </a:extLst>
              </a:tr>
              <a:tr h="0">
                <a:tc>
                  <a:txBody>
                    <a:bodyPr/>
                    <a:lstStyle/>
                    <a:p>
                      <a:pPr>
                        <a:buNone/>
                      </a:pPr>
                      <a:r>
                        <a:rPr lang="en-IN"/>
                        <a:t>Statistical Sampling</a:t>
                      </a:r>
                    </a:p>
                  </a:txBody>
                  <a:tcPr anchor="ctr"/>
                </a:tc>
                <a:tc>
                  <a:txBody>
                    <a:bodyPr/>
                    <a:lstStyle/>
                    <a:p>
                      <a:pPr>
                        <a:buNone/>
                      </a:pPr>
                      <a:r>
                        <a:rPr lang="en-IN"/>
                        <a:t>Selects representative test data from a larger population.</a:t>
                      </a:r>
                    </a:p>
                  </a:txBody>
                  <a:tcPr anchor="ctr"/>
                </a:tc>
                <a:extLst>
                  <a:ext uri="{0D108BD9-81ED-4DB2-BD59-A6C34878D82A}">
                    <a16:rowId xmlns:a16="http://schemas.microsoft.com/office/drawing/2014/main" val="3564318940"/>
                  </a:ext>
                </a:extLst>
              </a:tr>
              <a:tr h="0">
                <a:tc>
                  <a:txBody>
                    <a:bodyPr/>
                    <a:lstStyle/>
                    <a:p>
                      <a:pPr>
                        <a:buNone/>
                      </a:pPr>
                      <a:r>
                        <a:rPr lang="en-IN"/>
                        <a:t>Confidence Intervals</a:t>
                      </a:r>
                    </a:p>
                  </a:txBody>
                  <a:tcPr anchor="ctr"/>
                </a:tc>
                <a:tc>
                  <a:txBody>
                    <a:bodyPr/>
                    <a:lstStyle/>
                    <a:p>
                      <a:pPr>
                        <a:buNone/>
                      </a:pPr>
                      <a:r>
                        <a:rPr lang="en-IN"/>
                        <a:t>Estimates the range within which a population performance measure is likely to fall.</a:t>
                      </a:r>
                    </a:p>
                  </a:txBody>
                  <a:tcPr anchor="ctr"/>
                </a:tc>
                <a:extLst>
                  <a:ext uri="{0D108BD9-81ED-4DB2-BD59-A6C34878D82A}">
                    <a16:rowId xmlns:a16="http://schemas.microsoft.com/office/drawing/2014/main" val="3063877967"/>
                  </a:ext>
                </a:extLst>
              </a:tr>
              <a:tr h="0">
                <a:tc>
                  <a:txBody>
                    <a:bodyPr/>
                    <a:lstStyle/>
                    <a:p>
                      <a:pPr>
                        <a:buNone/>
                      </a:pPr>
                      <a:r>
                        <a:rPr lang="en-IN"/>
                        <a:t>Hypothesis Testing</a:t>
                      </a:r>
                    </a:p>
                  </a:txBody>
                  <a:tcPr anchor="ctr"/>
                </a:tc>
                <a:tc>
                  <a:txBody>
                    <a:bodyPr/>
                    <a:lstStyle/>
                    <a:p>
                      <a:pPr>
                        <a:buNone/>
                      </a:pPr>
                      <a:r>
                        <a:rPr lang="en-IN"/>
                        <a:t>Evaluates whether statistical evidence supports or rejects a specific claim about model performance.</a:t>
                      </a:r>
                    </a:p>
                  </a:txBody>
                  <a:tcPr anchor="ctr"/>
                </a:tc>
                <a:extLst>
                  <a:ext uri="{0D108BD9-81ED-4DB2-BD59-A6C34878D82A}">
                    <a16:rowId xmlns:a16="http://schemas.microsoft.com/office/drawing/2014/main" val="1254170810"/>
                  </a:ext>
                </a:extLst>
              </a:tr>
              <a:tr h="0">
                <a:tc>
                  <a:txBody>
                    <a:bodyPr/>
                    <a:lstStyle/>
                    <a:p>
                      <a:pPr>
                        <a:buNone/>
                      </a:pPr>
                      <a:r>
                        <a:rPr lang="en-IN"/>
                        <a:t>Error Analysis</a:t>
                      </a:r>
                    </a:p>
                  </a:txBody>
                  <a:tcPr anchor="ctr"/>
                </a:tc>
                <a:tc>
                  <a:txBody>
                    <a:bodyPr/>
                    <a:lstStyle/>
                    <a:p>
                      <a:pPr>
                        <a:buNone/>
                      </a:pPr>
                      <a:r>
                        <a:rPr lang="en-IN"/>
                        <a:t>Identifies patterns and causes of incorrect AI predictions.</a:t>
                      </a:r>
                    </a:p>
                  </a:txBody>
                  <a:tcPr anchor="ctr"/>
                </a:tc>
                <a:extLst>
                  <a:ext uri="{0D108BD9-81ED-4DB2-BD59-A6C34878D82A}">
                    <a16:rowId xmlns:a16="http://schemas.microsoft.com/office/drawing/2014/main" val="428779369"/>
                  </a:ext>
                </a:extLst>
              </a:tr>
              <a:tr h="0">
                <a:tc>
                  <a:txBody>
                    <a:bodyPr/>
                    <a:lstStyle/>
                    <a:p>
                      <a:pPr>
                        <a:buNone/>
                      </a:pPr>
                      <a:r>
                        <a:rPr lang="en-IN"/>
                        <a:t>Distribution Analysis</a:t>
                      </a:r>
                    </a:p>
                  </a:txBody>
                  <a:tcPr anchor="ctr"/>
                </a:tc>
                <a:tc>
                  <a:txBody>
                    <a:bodyPr/>
                    <a:lstStyle/>
                    <a:p>
                      <a:pPr>
                        <a:buNone/>
                      </a:pPr>
                      <a:r>
                        <a:rPr lang="en-IN" dirty="0"/>
                        <a:t>Evaluates model performance across different types of input data and operating conditions.</a:t>
                      </a:r>
                    </a:p>
                  </a:txBody>
                  <a:tcPr anchor="ctr"/>
                </a:tc>
                <a:extLst>
                  <a:ext uri="{0D108BD9-81ED-4DB2-BD59-A6C34878D82A}">
                    <a16:rowId xmlns:a16="http://schemas.microsoft.com/office/drawing/2014/main" val="4215911576"/>
                  </a:ext>
                </a:extLst>
              </a:tr>
            </a:tbl>
          </a:graphicData>
        </a:graphic>
      </p:graphicFrame>
    </p:spTree>
    <p:extLst>
      <p:ext uri="{BB962C8B-B14F-4D97-AF65-F5344CB8AC3E}">
        <p14:creationId xmlns:p14="http://schemas.microsoft.com/office/powerpoint/2010/main" val="1375159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A3460271-4971-CB5D-2BAD-32D4A66F98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FCB1A6-9B84-3F4E-980C-F88F14A481B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0D884563-EF11-C5DF-FC7D-7713FDA366BA}"/>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4D7ABA3B-60D6-805C-4F36-017391EDA4B2}"/>
              </a:ext>
            </a:extLst>
          </p:cNvPr>
          <p:cNvSpPr txBox="1"/>
          <p:nvPr/>
        </p:nvSpPr>
        <p:spPr>
          <a:xfrm>
            <a:off x="530352" y="393192"/>
            <a:ext cx="6094562" cy="461665"/>
          </a:xfrm>
          <a:prstGeom prst="rect">
            <a:avLst/>
          </a:prstGeom>
          <a:noFill/>
        </p:spPr>
        <p:txBody>
          <a:bodyPr wrap="square">
            <a:spAutoFit/>
          </a:bodyPr>
          <a:lstStyle/>
          <a:p>
            <a:r>
              <a:rPr lang="en-IN" sz="2400" dirty="0"/>
              <a:t>6. Traditional Testing vs. Statistical Testing</a:t>
            </a:r>
            <a:endParaRPr lang="en-IN" sz="2400" b="1" dirty="0"/>
          </a:p>
        </p:txBody>
      </p:sp>
      <p:graphicFrame>
        <p:nvGraphicFramePr>
          <p:cNvPr id="4" name="Table 3">
            <a:extLst>
              <a:ext uri="{FF2B5EF4-FFF2-40B4-BE49-F238E27FC236}">
                <a16:creationId xmlns:a16="http://schemas.microsoft.com/office/drawing/2014/main" id="{C3101F55-492B-66B3-ECA5-2D9CE4D55036}"/>
              </a:ext>
            </a:extLst>
          </p:cNvPr>
          <p:cNvGraphicFramePr>
            <a:graphicFrameLocks noGrp="1"/>
          </p:cNvGraphicFramePr>
          <p:nvPr/>
        </p:nvGraphicFramePr>
        <p:xfrm>
          <a:off x="838200" y="2355374"/>
          <a:ext cx="10515600" cy="32918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925791592"/>
                    </a:ext>
                  </a:extLst>
                </a:gridCol>
                <a:gridCol w="5257800">
                  <a:extLst>
                    <a:ext uri="{9D8B030D-6E8A-4147-A177-3AD203B41FA5}">
                      <a16:colId xmlns:a16="http://schemas.microsoft.com/office/drawing/2014/main" val="711697156"/>
                    </a:ext>
                  </a:extLst>
                </a:gridCol>
              </a:tblGrid>
              <a:tr h="0">
                <a:tc>
                  <a:txBody>
                    <a:bodyPr/>
                    <a:lstStyle/>
                    <a:p>
                      <a:pPr>
                        <a:buNone/>
                      </a:pPr>
                      <a:r>
                        <a:rPr lang="en-IN"/>
                        <a:t>Traditional Testing</a:t>
                      </a:r>
                    </a:p>
                  </a:txBody>
                  <a:tcPr anchor="ctr"/>
                </a:tc>
                <a:tc>
                  <a:txBody>
                    <a:bodyPr/>
                    <a:lstStyle/>
                    <a:p>
                      <a:pPr>
                        <a:buNone/>
                      </a:pPr>
                      <a:r>
                        <a:rPr lang="en-IN"/>
                        <a:t>Statistical Testing for AI</a:t>
                      </a:r>
                    </a:p>
                  </a:txBody>
                  <a:tcPr anchor="ctr"/>
                </a:tc>
                <a:extLst>
                  <a:ext uri="{0D108BD9-81ED-4DB2-BD59-A6C34878D82A}">
                    <a16:rowId xmlns:a16="http://schemas.microsoft.com/office/drawing/2014/main" val="1997651726"/>
                  </a:ext>
                </a:extLst>
              </a:tr>
              <a:tr h="0">
                <a:tc>
                  <a:txBody>
                    <a:bodyPr/>
                    <a:lstStyle/>
                    <a:p>
                      <a:pPr>
                        <a:buNone/>
                      </a:pPr>
                      <a:r>
                        <a:rPr lang="en-IN"/>
                        <a:t>Usually verifies individual outputs against expected results.</a:t>
                      </a:r>
                    </a:p>
                  </a:txBody>
                  <a:tcPr anchor="ctr"/>
                </a:tc>
                <a:tc>
                  <a:txBody>
                    <a:bodyPr/>
                    <a:lstStyle/>
                    <a:p>
                      <a:pPr>
                        <a:buNone/>
                      </a:pPr>
                      <a:r>
                        <a:rPr lang="en-IN"/>
                        <a:t>Evaluates performance across many test cases.</a:t>
                      </a:r>
                    </a:p>
                  </a:txBody>
                  <a:tcPr anchor="ctr"/>
                </a:tc>
                <a:extLst>
                  <a:ext uri="{0D108BD9-81ED-4DB2-BD59-A6C34878D82A}">
                    <a16:rowId xmlns:a16="http://schemas.microsoft.com/office/drawing/2014/main" val="197981096"/>
                  </a:ext>
                </a:extLst>
              </a:tr>
              <a:tr h="0">
                <a:tc>
                  <a:txBody>
                    <a:bodyPr/>
                    <a:lstStyle/>
                    <a:p>
                      <a:pPr>
                        <a:buNone/>
                      </a:pPr>
                      <a:r>
                        <a:rPr lang="en-IN"/>
                        <a:t>Often relies on deterministic behavior.</a:t>
                      </a:r>
                    </a:p>
                  </a:txBody>
                  <a:tcPr anchor="ctr"/>
                </a:tc>
                <a:tc>
                  <a:txBody>
                    <a:bodyPr/>
                    <a:lstStyle/>
                    <a:p>
                      <a:pPr>
                        <a:buNone/>
                      </a:pPr>
                      <a:r>
                        <a:rPr lang="en-IN"/>
                        <a:t>Accommodates probabilistic and non-deterministic behavior.</a:t>
                      </a:r>
                    </a:p>
                  </a:txBody>
                  <a:tcPr anchor="ctr"/>
                </a:tc>
                <a:extLst>
                  <a:ext uri="{0D108BD9-81ED-4DB2-BD59-A6C34878D82A}">
                    <a16:rowId xmlns:a16="http://schemas.microsoft.com/office/drawing/2014/main" val="1013576439"/>
                  </a:ext>
                </a:extLst>
              </a:tr>
              <a:tr h="0">
                <a:tc>
                  <a:txBody>
                    <a:bodyPr/>
                    <a:lstStyle/>
                    <a:p>
                      <a:pPr>
                        <a:buNone/>
                      </a:pPr>
                      <a:r>
                        <a:rPr lang="en-IN"/>
                        <a:t>Uses pass/fail results for individual tests.</a:t>
                      </a:r>
                    </a:p>
                  </a:txBody>
                  <a:tcPr anchor="ctr"/>
                </a:tc>
                <a:tc>
                  <a:txBody>
                    <a:bodyPr/>
                    <a:lstStyle/>
                    <a:p>
                      <a:pPr>
                        <a:buNone/>
                      </a:pPr>
                      <a:r>
                        <a:rPr lang="en-IN"/>
                        <a:t>Uses performance metrics and statistical estimates.</a:t>
                      </a:r>
                    </a:p>
                  </a:txBody>
                  <a:tcPr anchor="ctr"/>
                </a:tc>
                <a:extLst>
                  <a:ext uri="{0D108BD9-81ED-4DB2-BD59-A6C34878D82A}">
                    <a16:rowId xmlns:a16="http://schemas.microsoft.com/office/drawing/2014/main" val="1527699983"/>
                  </a:ext>
                </a:extLst>
              </a:tr>
              <a:tr h="0">
                <a:tc>
                  <a:txBody>
                    <a:bodyPr/>
                    <a:lstStyle/>
                    <a:p>
                      <a:pPr>
                        <a:buNone/>
                      </a:pPr>
                      <a:r>
                        <a:rPr lang="en-IN"/>
                        <a:t>Focuses on specific test conditions.</a:t>
                      </a:r>
                    </a:p>
                  </a:txBody>
                  <a:tcPr anchor="ctr"/>
                </a:tc>
                <a:tc>
                  <a:txBody>
                    <a:bodyPr/>
                    <a:lstStyle/>
                    <a:p>
                      <a:pPr>
                        <a:buNone/>
                      </a:pPr>
                      <a:r>
                        <a:rPr lang="en-IN"/>
                        <a:t>Evaluates a representative range of operational scenarios.</a:t>
                      </a:r>
                    </a:p>
                  </a:txBody>
                  <a:tcPr anchor="ctr"/>
                </a:tc>
                <a:extLst>
                  <a:ext uri="{0D108BD9-81ED-4DB2-BD59-A6C34878D82A}">
                    <a16:rowId xmlns:a16="http://schemas.microsoft.com/office/drawing/2014/main" val="2952754487"/>
                  </a:ext>
                </a:extLst>
              </a:tr>
              <a:tr h="0">
                <a:tc>
                  <a:txBody>
                    <a:bodyPr/>
                    <a:lstStyle/>
                    <a:p>
                      <a:pPr>
                        <a:buNone/>
                      </a:pPr>
                      <a:r>
                        <a:rPr lang="en-IN"/>
                        <a:t>Determines whether particular outputs are correct.</a:t>
                      </a:r>
                    </a:p>
                  </a:txBody>
                  <a:tcPr anchor="ctr"/>
                </a:tc>
                <a:tc>
                  <a:txBody>
                    <a:bodyPr/>
                    <a:lstStyle/>
                    <a:p>
                      <a:pPr>
                        <a:buNone/>
                      </a:pPr>
                      <a:r>
                        <a:rPr lang="en-IN" dirty="0"/>
                        <a:t>Estimates overall model accuracy, reliability, and uncertainty.</a:t>
                      </a:r>
                    </a:p>
                  </a:txBody>
                  <a:tcPr anchor="ctr"/>
                </a:tc>
                <a:extLst>
                  <a:ext uri="{0D108BD9-81ED-4DB2-BD59-A6C34878D82A}">
                    <a16:rowId xmlns:a16="http://schemas.microsoft.com/office/drawing/2014/main" val="1592657348"/>
                  </a:ext>
                </a:extLst>
              </a:tr>
            </a:tbl>
          </a:graphicData>
        </a:graphic>
      </p:graphicFrame>
    </p:spTree>
    <p:extLst>
      <p:ext uri="{BB962C8B-B14F-4D97-AF65-F5344CB8AC3E}">
        <p14:creationId xmlns:p14="http://schemas.microsoft.com/office/powerpoint/2010/main" val="3592066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8A3107B7-DB05-8666-B243-21C239684B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0C64E7-9E7B-F280-3F91-61C840DEE58C}"/>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9F3895E5-30A3-F607-7CD1-1F3138FCB842}"/>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05371F78-8E80-8690-5555-191DFADEFF8C}"/>
              </a:ext>
            </a:extLst>
          </p:cNvPr>
          <p:cNvSpPr txBox="1"/>
          <p:nvPr/>
        </p:nvSpPr>
        <p:spPr>
          <a:xfrm>
            <a:off x="530351" y="393192"/>
            <a:ext cx="8794803" cy="461665"/>
          </a:xfrm>
          <a:prstGeom prst="rect">
            <a:avLst/>
          </a:prstGeom>
          <a:noFill/>
        </p:spPr>
        <p:txBody>
          <a:bodyPr wrap="square">
            <a:spAutoFit/>
          </a:bodyPr>
          <a:lstStyle/>
          <a:p>
            <a:pPr>
              <a:buNone/>
            </a:pPr>
            <a:r>
              <a:rPr lang="en-IN" sz="2400" b="1" dirty="0"/>
              <a:t>7. Practical Example: Testing an AI Image Classification Model</a:t>
            </a:r>
          </a:p>
        </p:txBody>
      </p:sp>
      <p:sp>
        <p:nvSpPr>
          <p:cNvPr id="6" name="TextBox 5">
            <a:extLst>
              <a:ext uri="{FF2B5EF4-FFF2-40B4-BE49-F238E27FC236}">
                <a16:creationId xmlns:a16="http://schemas.microsoft.com/office/drawing/2014/main" id="{3D078962-0071-D5E0-19BF-4C0B361BB636}"/>
              </a:ext>
            </a:extLst>
          </p:cNvPr>
          <p:cNvSpPr txBox="1"/>
          <p:nvPr/>
        </p:nvSpPr>
        <p:spPr>
          <a:xfrm>
            <a:off x="804413" y="1059917"/>
            <a:ext cx="9184976" cy="3970318"/>
          </a:xfrm>
          <a:prstGeom prst="rect">
            <a:avLst/>
          </a:prstGeom>
          <a:noFill/>
        </p:spPr>
        <p:txBody>
          <a:bodyPr wrap="square">
            <a:spAutoFit/>
          </a:bodyPr>
          <a:lstStyle/>
          <a:p>
            <a:pPr>
              <a:buNone/>
            </a:pPr>
            <a:endParaRPr lang="en-IN" b="1" dirty="0"/>
          </a:p>
          <a:p>
            <a:pPr>
              <a:buNone/>
            </a:pPr>
            <a:r>
              <a:rPr lang="en-IN" dirty="0"/>
              <a:t>Suppose an AI model is designed to identify cats and dogs.</a:t>
            </a:r>
          </a:p>
          <a:p>
            <a:pPr>
              <a:buNone/>
            </a:pPr>
            <a:endParaRPr lang="en-IN" dirty="0"/>
          </a:p>
          <a:p>
            <a:pPr marL="342900" lvl="0" indent="-342900">
              <a:buFont typeface="Arial" panose="020B0604020202020204" pitchFamily="34" charset="0"/>
              <a:buChar char="•"/>
            </a:pPr>
            <a:r>
              <a:rPr lang="en-IN" dirty="0"/>
              <a:t>Step 1: Prepare a representative test dataset containing 1,000 cat and dog images.</a:t>
            </a:r>
          </a:p>
          <a:p>
            <a:pPr marL="342900" lvl="0" indent="-342900">
              <a:buFont typeface="Arial" panose="020B0604020202020204" pitchFamily="34" charset="0"/>
              <a:buChar char="•"/>
            </a:pPr>
            <a:r>
              <a:rPr lang="en-IN" dirty="0"/>
              <a:t>Step 2: Execute the model against all 1,000 test images.</a:t>
            </a:r>
          </a:p>
          <a:p>
            <a:pPr marL="342900" lvl="0" indent="-342900">
              <a:buFont typeface="Arial" panose="020B0604020202020204" pitchFamily="34" charset="0"/>
              <a:buChar char="•"/>
            </a:pPr>
            <a:r>
              <a:rPr lang="en-IN" dirty="0"/>
              <a:t>Step 3: Compare the predicted classifications with the actual labels.</a:t>
            </a:r>
          </a:p>
          <a:p>
            <a:pPr marL="342900" lvl="0" indent="-342900">
              <a:buFont typeface="Arial" panose="020B0604020202020204" pitchFamily="34" charset="0"/>
              <a:buChar char="•"/>
            </a:pPr>
            <a:r>
              <a:rPr lang="en-IN" dirty="0"/>
              <a:t>Step 4: Calculate performance metrics such as accuracy, precision, recall, and F1-score.</a:t>
            </a:r>
          </a:p>
          <a:p>
            <a:pPr marL="342900" lvl="0" indent="-342900">
              <a:buFont typeface="Arial" panose="020B0604020202020204" pitchFamily="34" charset="0"/>
              <a:buChar char="•"/>
            </a:pPr>
            <a:r>
              <a:rPr lang="en-IN" dirty="0"/>
              <a:t>Step 5: </a:t>
            </a:r>
            <a:r>
              <a:rPr lang="en-IN" dirty="0" err="1"/>
              <a:t>Analyze</a:t>
            </a:r>
            <a:r>
              <a:rPr lang="en-IN" dirty="0"/>
              <a:t> incorrect predictions and evaluate performance under different conditions.</a:t>
            </a:r>
          </a:p>
          <a:p>
            <a:pPr marL="342900" lvl="0" indent="-342900">
              <a:buFont typeface="Arial" panose="020B0604020202020204" pitchFamily="34" charset="0"/>
              <a:buChar char="•"/>
            </a:pPr>
            <a:r>
              <a:rPr lang="en-IN" dirty="0"/>
              <a:t>Step 6: Use statistical methods, such as confidence intervals, to estimate the reliability of the results.</a:t>
            </a:r>
          </a:p>
          <a:p>
            <a:pPr marL="342900" lvl="0" indent="-342900">
              <a:buFont typeface="Arial" panose="020B0604020202020204" pitchFamily="34" charset="0"/>
              <a:buChar char="•"/>
            </a:pPr>
            <a:endParaRPr lang="en-IN" dirty="0"/>
          </a:p>
          <a:p>
            <a:pPr>
              <a:buNone/>
            </a:pPr>
            <a:r>
              <a:rPr lang="en-IN" dirty="0"/>
              <a:t>For example, if the model correctly classifies 920 out of 1,000 images, its observed accuracy is 92%. However, statistical analysis is still needed to estimate how well this result represents its performance on future images.</a:t>
            </a:r>
          </a:p>
        </p:txBody>
      </p:sp>
    </p:spTree>
    <p:extLst>
      <p:ext uri="{BB962C8B-B14F-4D97-AF65-F5344CB8AC3E}">
        <p14:creationId xmlns:p14="http://schemas.microsoft.com/office/powerpoint/2010/main" val="175283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52AB872E-488C-A0DE-1D2D-3E135FC4275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A1038F6-1EFD-531F-E1CB-93B9D7DE762A}"/>
              </a:ext>
            </a:extLst>
          </p:cNvPr>
          <p:cNvSpPr txBox="1"/>
          <p:nvPr/>
        </p:nvSpPr>
        <p:spPr>
          <a:xfrm>
            <a:off x="1020073" y="1119852"/>
            <a:ext cx="9564538" cy="1200329"/>
          </a:xfrm>
          <a:prstGeom prst="rect">
            <a:avLst/>
          </a:prstGeom>
          <a:noFill/>
        </p:spPr>
        <p:txBody>
          <a:bodyPr wrap="square">
            <a:spAutoFit/>
          </a:bodyPr>
          <a:lstStyle/>
          <a:p>
            <a:r>
              <a:rPr lang="en-IN" dirty="0"/>
              <a:t>Key takeaway: Statistical testing is essential for AI-based systems because individual test results cannot adequately demonstrate overall reliability. By testing representative datasets and applying statistical methods, testers can evaluate model performance, uncertainty, bias, and compliance with safety requirement</a:t>
            </a:r>
          </a:p>
        </p:txBody>
      </p:sp>
    </p:spTree>
    <p:extLst>
      <p:ext uri="{BB962C8B-B14F-4D97-AF65-F5344CB8AC3E}">
        <p14:creationId xmlns:p14="http://schemas.microsoft.com/office/powerpoint/2010/main" val="92523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DFFDED"/>
        </a:solidFill>
        <a:effectLst/>
      </p:bgPr>
    </p:bg>
    <p:spTree>
      <p:nvGrpSpPr>
        <p:cNvPr id="1" name=""/>
        <p:cNvGrpSpPr/>
        <p:nvPr/>
      </p:nvGrpSpPr>
      <p:grpSpPr>
        <a:xfrm>
          <a:off x="0" y="0"/>
          <a:ext cx="0" cy="0"/>
          <a:chOff x="0" y="0"/>
          <a:chExt cx="0" cy="0"/>
        </a:xfrm>
      </p:grpSpPr>
      <p:sp>
        <p:nvSpPr>
          <p:cNvPr id="2" name="Text 0"/>
          <p:cNvSpPr/>
          <p:nvPr/>
        </p:nvSpPr>
        <p:spPr>
          <a:xfrm>
            <a:off x="3657600" y="2834640"/>
            <a:ext cx="5029200" cy="640080"/>
          </a:xfrm>
          <a:prstGeom prst="rect">
            <a:avLst/>
          </a:prstGeom>
          <a:noFill/>
          <a:ln/>
        </p:spPr>
        <p:txBody>
          <a:bodyPr wrap="square" lIns="0" tIns="0" rIns="0" bIns="0" rtlCol="0" anchor="ctr"/>
          <a:lstStyle/>
          <a:p>
            <a:pPr marL="0" indent="0" algn="ctr">
              <a:buNone/>
            </a:pPr>
            <a:r>
              <a:rPr lang="en-US" sz="3100" b="1" dirty="0">
                <a:solidFill>
                  <a:srgbClr val="080808"/>
                </a:solidFill>
                <a:latin typeface="Arial" pitchFamily="34" charset="0"/>
                <a:ea typeface="Arial" pitchFamily="34" charset="-122"/>
                <a:cs typeface="Arial" pitchFamily="34" charset="-120"/>
              </a:rPr>
              <a:t>THANK YOU!!!</a:t>
            </a:r>
            <a:endParaRPr lang="en-US" sz="3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833</Words>
  <Application>Microsoft Office PowerPoint</Application>
  <PresentationFormat>Widescreen</PresentationFormat>
  <Paragraphs>82</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Calculation of Machine Learning Functional Performance Metrics</dc:title>
  <dc:subject>ISTQB CT-AI 3.3.1</dc:subject>
  <dc:creator>OpenAI</dc:creator>
  <cp:lastModifiedBy>Anurag Patil</cp:lastModifiedBy>
  <cp:revision>22</cp:revision>
  <dcterms:created xsi:type="dcterms:W3CDTF">2026-10-14T05:21:37Z</dcterms:created>
  <dcterms:modified xsi:type="dcterms:W3CDTF">2026-10-15T04:16:11Z</dcterms:modified>
</cp:coreProperties>
</file>